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276" r:id="rId3"/>
    <p:sldId id="290" r:id="rId4"/>
    <p:sldId id="289" r:id="rId5"/>
    <p:sldId id="288" r:id="rId6"/>
    <p:sldId id="277" r:id="rId7"/>
    <p:sldId id="278" r:id="rId8"/>
    <p:sldId id="291" r:id="rId9"/>
    <p:sldId id="292" r:id="rId10"/>
    <p:sldId id="293" r:id="rId11"/>
    <p:sldId id="294" r:id="rId12"/>
    <p:sldId id="295" r:id="rId13"/>
    <p:sldId id="285" r:id="rId14"/>
  </p:sldIdLst>
  <p:sldSz cx="12192000" cy="6858000"/>
  <p:notesSz cx="6858000" cy="9144000"/>
  <p:defaultTextStyle>
    <a:defPPr rtl="0"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pos="7512" userDrawn="1">
          <p15:clr>
            <a:srgbClr val="A4A3A4"/>
          </p15:clr>
        </p15:guide>
        <p15:guide id="4" pos="144" userDrawn="1">
          <p15:clr>
            <a:srgbClr val="A4A3A4"/>
          </p15:clr>
        </p15:guide>
        <p15:guide id="5" orient="horz" pos="624" userDrawn="1">
          <p15:clr>
            <a:srgbClr val="A4A3A4"/>
          </p15:clr>
        </p15:guide>
        <p15:guide id="6" orient="horz" pos="40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8295"/>
    <a:srgbClr val="095763"/>
    <a:srgbClr val="42A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7834FE-331E-4955-BE92-2C6CAD3080E6}" v="139" dt="2025-09-09T07:47:53.1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73" autoAdjust="0"/>
    <p:restoredTop sz="70460" autoAdjust="0"/>
  </p:normalViewPr>
  <p:slideViewPr>
    <p:cSldViewPr snapToGrid="0" showGuides="1">
      <p:cViewPr varScale="1">
        <p:scale>
          <a:sx n="70" d="100"/>
          <a:sy n="70" d="100"/>
        </p:scale>
        <p:origin x="2316" y="288"/>
      </p:cViewPr>
      <p:guideLst>
        <p:guide orient="horz" pos="2328"/>
        <p:guide pos="3864"/>
        <p:guide pos="7512"/>
        <p:guide pos="144"/>
        <p:guide orient="horz" pos="624"/>
        <p:guide orient="horz" pos="405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9" d="100"/>
          <a:sy n="99" d="100"/>
        </p:scale>
        <p:origin x="357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livia TAURAND" userId="73cd173347e98645" providerId="LiveId" clId="{EEB6157E-5311-49D6-93BA-993CA8D41C78}"/>
    <pc:docChg chg="modSld">
      <pc:chgData name="Olivia TAURAND" userId="73cd173347e98645" providerId="LiveId" clId="{EEB6157E-5311-49D6-93BA-993CA8D41C78}" dt="2025-09-09T07:48:00.319" v="88" actId="20577"/>
      <pc:docMkLst>
        <pc:docMk/>
      </pc:docMkLst>
      <pc:sldChg chg="modNotesTx">
        <pc:chgData name="Olivia TAURAND" userId="73cd173347e98645" providerId="LiveId" clId="{EEB6157E-5311-49D6-93BA-993CA8D41C78}" dt="2025-09-09T07:37:53.349" v="3" actId="20577"/>
        <pc:sldMkLst>
          <pc:docMk/>
          <pc:sldMk cId="2387849042" sldId="256"/>
        </pc:sldMkLst>
      </pc:sldChg>
      <pc:sldChg chg="modNotesTx">
        <pc:chgData name="Olivia TAURAND" userId="73cd173347e98645" providerId="LiveId" clId="{EEB6157E-5311-49D6-93BA-993CA8D41C78}" dt="2025-09-09T07:38:16.236" v="8" actId="20577"/>
        <pc:sldMkLst>
          <pc:docMk/>
          <pc:sldMk cId="3299715198" sldId="276"/>
        </pc:sldMkLst>
      </pc:sldChg>
      <pc:sldChg chg="modNotesTx">
        <pc:chgData name="Olivia TAURAND" userId="73cd173347e98645" providerId="LiveId" clId="{EEB6157E-5311-49D6-93BA-993CA8D41C78}" dt="2025-09-09T07:42:35.822" v="45" actId="20577"/>
        <pc:sldMkLst>
          <pc:docMk/>
          <pc:sldMk cId="822569134" sldId="277"/>
        </pc:sldMkLst>
      </pc:sldChg>
      <pc:sldChg chg="modNotesTx">
        <pc:chgData name="Olivia TAURAND" userId="73cd173347e98645" providerId="LiveId" clId="{EEB6157E-5311-49D6-93BA-993CA8D41C78}" dt="2025-09-09T07:43:14.286" v="52" actId="20577"/>
        <pc:sldMkLst>
          <pc:docMk/>
          <pc:sldMk cId="843768125" sldId="278"/>
        </pc:sldMkLst>
      </pc:sldChg>
      <pc:sldChg chg="modNotesTx">
        <pc:chgData name="Olivia TAURAND" userId="73cd173347e98645" providerId="LiveId" clId="{EEB6157E-5311-49D6-93BA-993CA8D41C78}" dt="2025-09-09T07:48:00.319" v="88" actId="20577"/>
        <pc:sldMkLst>
          <pc:docMk/>
          <pc:sldMk cId="1923038163" sldId="285"/>
        </pc:sldMkLst>
      </pc:sldChg>
      <pc:sldChg chg="modNotesTx">
        <pc:chgData name="Olivia TAURAND" userId="73cd173347e98645" providerId="LiveId" clId="{EEB6157E-5311-49D6-93BA-993CA8D41C78}" dt="2025-09-09T07:41:23.688" v="40" actId="20577"/>
        <pc:sldMkLst>
          <pc:docMk/>
          <pc:sldMk cId="440707098" sldId="288"/>
        </pc:sldMkLst>
      </pc:sldChg>
      <pc:sldChg chg="modNotesTx">
        <pc:chgData name="Olivia TAURAND" userId="73cd173347e98645" providerId="LiveId" clId="{EEB6157E-5311-49D6-93BA-993CA8D41C78}" dt="2025-09-09T07:39:47.019" v="28" actId="20577"/>
        <pc:sldMkLst>
          <pc:docMk/>
          <pc:sldMk cId="2857878545" sldId="289"/>
        </pc:sldMkLst>
      </pc:sldChg>
      <pc:sldChg chg="modNotesTx">
        <pc:chgData name="Olivia TAURAND" userId="73cd173347e98645" providerId="LiveId" clId="{EEB6157E-5311-49D6-93BA-993CA8D41C78}" dt="2025-09-09T07:38:50.916" v="11" actId="20577"/>
        <pc:sldMkLst>
          <pc:docMk/>
          <pc:sldMk cId="303165589" sldId="290"/>
        </pc:sldMkLst>
      </pc:sldChg>
      <pc:sldChg chg="modNotesTx">
        <pc:chgData name="Olivia TAURAND" userId="73cd173347e98645" providerId="LiveId" clId="{EEB6157E-5311-49D6-93BA-993CA8D41C78}" dt="2025-09-09T07:43:34.413" v="55" actId="20577"/>
        <pc:sldMkLst>
          <pc:docMk/>
          <pc:sldMk cId="1246594660" sldId="291"/>
        </pc:sldMkLst>
      </pc:sldChg>
      <pc:sldChg chg="modNotesTx">
        <pc:chgData name="Olivia TAURAND" userId="73cd173347e98645" providerId="LiveId" clId="{EEB6157E-5311-49D6-93BA-993CA8D41C78}" dt="2025-09-09T07:44:13.164" v="60" actId="20577"/>
        <pc:sldMkLst>
          <pc:docMk/>
          <pc:sldMk cId="2132039655" sldId="292"/>
        </pc:sldMkLst>
      </pc:sldChg>
      <pc:sldChg chg="modNotesTx">
        <pc:chgData name="Olivia TAURAND" userId="73cd173347e98645" providerId="LiveId" clId="{EEB6157E-5311-49D6-93BA-993CA8D41C78}" dt="2025-09-09T07:46:28.106" v="63" actId="20577"/>
        <pc:sldMkLst>
          <pc:docMk/>
          <pc:sldMk cId="1616137073" sldId="293"/>
        </pc:sldMkLst>
      </pc:sldChg>
      <pc:sldChg chg="modNotesTx">
        <pc:chgData name="Olivia TAURAND" userId="73cd173347e98645" providerId="LiveId" clId="{EEB6157E-5311-49D6-93BA-993CA8D41C78}" dt="2025-09-09T07:46:52.497" v="67" actId="20577"/>
        <pc:sldMkLst>
          <pc:docMk/>
          <pc:sldMk cId="2809335103" sldId="294"/>
        </pc:sldMkLst>
      </pc:sldChg>
      <pc:sldChg chg="modNotesTx">
        <pc:chgData name="Olivia TAURAND" userId="73cd173347e98645" providerId="LiveId" clId="{EEB6157E-5311-49D6-93BA-993CA8D41C78}" dt="2025-09-09T07:47:41.288" v="85" actId="20577"/>
        <pc:sldMkLst>
          <pc:docMk/>
          <pc:sldMk cId="4212814372" sldId="295"/>
        </pc:sldMkLst>
      </pc:sldChg>
    </pc:docChg>
  </pc:docChgLst>
  <pc:docChgLst>
    <pc:chgData name="Olivia TAURAND" userId="73cd173347e98645" providerId="LiveId" clId="{8D7834FE-331E-4955-BE92-2C6CAD3080E6}"/>
    <pc:docChg chg="undo custSel modSld">
      <pc:chgData name="Olivia TAURAND" userId="73cd173347e98645" providerId="LiveId" clId="{8D7834FE-331E-4955-BE92-2C6CAD3080E6}" dt="2025-09-04T13:04:55.185" v="73" actId="1076"/>
      <pc:docMkLst>
        <pc:docMk/>
      </pc:docMkLst>
      <pc:sldChg chg="modSp mod">
        <pc:chgData name="Olivia TAURAND" userId="73cd173347e98645" providerId="LiveId" clId="{8D7834FE-331E-4955-BE92-2C6CAD3080E6}" dt="2025-09-04T13:04:55.185" v="73" actId="1076"/>
        <pc:sldMkLst>
          <pc:docMk/>
          <pc:sldMk cId="2132039655" sldId="292"/>
        </pc:sldMkLst>
        <pc:spChg chg="mod">
          <ac:chgData name="Olivia TAURAND" userId="73cd173347e98645" providerId="LiveId" clId="{8D7834FE-331E-4955-BE92-2C6CAD3080E6}" dt="2025-09-04T13:04:55.185" v="73" actId="1076"/>
          <ac:spMkLst>
            <pc:docMk/>
            <pc:sldMk cId="2132039655" sldId="292"/>
            <ac:spMk id="18" creationId="{C61E5F82-C5ED-27CD-5045-0C4C36A99B87}"/>
          </ac:spMkLst>
        </pc:spChg>
        <pc:picChg chg="mod">
          <ac:chgData name="Olivia TAURAND" userId="73cd173347e98645" providerId="LiveId" clId="{8D7834FE-331E-4955-BE92-2C6CAD3080E6}" dt="2025-09-04T13:04:54.665" v="72" actId="1076"/>
          <ac:picMkLst>
            <pc:docMk/>
            <pc:sldMk cId="2132039655" sldId="292"/>
            <ac:picMk id="12" creationId="{36C479FE-C672-83BB-BDA8-F643FEFC4A14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>
            <a:extLst>
              <a:ext uri="{FF2B5EF4-FFF2-40B4-BE49-F238E27FC236}">
                <a16:creationId xmlns:a16="http://schemas.microsoft.com/office/drawing/2014/main" id="{B46527B0-0B24-4087-B225-DB4F5C738F6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72798E0-F322-4236-8531-A1882BFE400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D6FB0DE1-D418-4EA9-BDFD-2E5632763663}" type="datetime1">
              <a:rPr lang="fr-FR" smtClean="0"/>
              <a:t>09/09/2025</a:t>
            </a:fld>
            <a:endParaRPr lang="en-US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4E5881F-2FD0-41BC-8E76-C691E59E146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2CA62C5-8A29-4592-9E3E-4C457F263C0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B4E85F6F-0FAD-4AD4-850C-7E4CD14D7D7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27452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190BD304-4DB2-4DA8-BE69-274C9984CC7A}" type="datetime1">
              <a:rPr lang="fr-FR" smtClean="0"/>
              <a:t>09/09/2025</a:t>
            </a:fld>
            <a:endParaRPr lang="en-US" dirty="0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fr"/>
              <a:t>Modifiez les styles du texte du masque</a:t>
            </a:r>
          </a:p>
          <a:p>
            <a:pPr lvl="1" rtl="0"/>
            <a:r>
              <a:rPr lang="fr"/>
              <a:t>Deuxième niveau</a:t>
            </a:r>
          </a:p>
          <a:p>
            <a:pPr lvl="2" rtl="0"/>
            <a:r>
              <a:rPr lang="fr"/>
              <a:t>Troisième niveau</a:t>
            </a:r>
          </a:p>
          <a:p>
            <a:pPr lvl="3" rtl="0"/>
            <a:r>
              <a:rPr lang="fr"/>
              <a:t>Quatrième niveau</a:t>
            </a:r>
          </a:p>
          <a:p>
            <a:pPr lvl="4" rtl="0"/>
            <a:r>
              <a:rPr lang="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BE60DC36-8EFA-4378-9855-E019C55AC472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70536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r>
              <a:rPr lang="fr-FR" dirty="0"/>
              <a:t>Bonjour à toutes et tous,</a:t>
            </a:r>
          </a:p>
          <a:p>
            <a:r>
              <a:rPr lang="fr-FR" dirty="0"/>
              <a:t>Aujourd’hui, je vous présente notre diagnostic sur l’égalité professionnelle entre les femmes et les hommes dans l’entreprise.</a:t>
            </a:r>
          </a:p>
          <a:p>
            <a:br>
              <a:rPr lang="fr-FR" dirty="0"/>
            </a:br>
            <a:r>
              <a:rPr lang="fr-FR" dirty="0"/>
              <a:t>Ce diagnostic est d’abord une </a:t>
            </a:r>
            <a:r>
              <a:rPr lang="fr-FR" b="1" dirty="0"/>
              <a:t>obligation légale</a:t>
            </a:r>
            <a:r>
              <a:rPr lang="fr-FR" dirty="0"/>
              <a:t> pour toutes les structures de plus de 50 salariés, mais au-delà de ça, c’est surtout un outil de </a:t>
            </a:r>
            <a:r>
              <a:rPr lang="fr-FR" b="1" dirty="0"/>
              <a:t>prise de conscience et de pilotage RH</a:t>
            </a:r>
            <a:r>
              <a:rPr lang="fr-FR" dirty="0"/>
              <a:t>.</a:t>
            </a:r>
          </a:p>
          <a:p>
            <a:endParaRPr lang="fr-FR" dirty="0"/>
          </a:p>
          <a:p>
            <a:r>
              <a:rPr lang="fr-FR" dirty="0"/>
              <a:t>L’objectif, ce n’est pas de faire du chiffre pour le chiffre. C’est de </a:t>
            </a:r>
            <a:r>
              <a:rPr lang="fr-FR" b="1" dirty="0"/>
              <a:t>regarder objectivement</a:t>
            </a:r>
            <a:r>
              <a:rPr lang="fr-FR" dirty="0"/>
              <a:t> où on en est, de </a:t>
            </a:r>
            <a:r>
              <a:rPr lang="fr-FR" b="1" dirty="0"/>
              <a:t>comprendre les dynamiques internes</a:t>
            </a:r>
            <a:r>
              <a:rPr lang="fr-FR" dirty="0"/>
              <a:t> et d’</a:t>
            </a:r>
            <a:r>
              <a:rPr lang="fr-FR" b="1" dirty="0"/>
              <a:t>identifier des leviers de progrès</a:t>
            </a:r>
            <a:r>
              <a:rPr lang="fr-FR" dirty="0"/>
              <a:t>.</a:t>
            </a:r>
          </a:p>
          <a:p>
            <a:endParaRPr lang="fr-FR" dirty="0"/>
          </a:p>
          <a:p>
            <a:r>
              <a:rPr lang="fr-FR" dirty="0"/>
              <a:t>On parle d’égalité, mais c’est aussi de </a:t>
            </a:r>
            <a:r>
              <a:rPr lang="fr-FR" b="1" dirty="0"/>
              <a:t>qualité de vie au travail</a:t>
            </a:r>
            <a:r>
              <a:rPr lang="fr-FR" dirty="0"/>
              <a:t>, de </a:t>
            </a:r>
            <a:r>
              <a:rPr lang="fr-FR" b="1" dirty="0"/>
              <a:t>mobilité</a:t>
            </a:r>
            <a:r>
              <a:rPr lang="fr-FR" dirty="0"/>
              <a:t>, de </a:t>
            </a:r>
            <a:r>
              <a:rPr lang="fr-FR" b="1" dirty="0"/>
              <a:t>justice salariale</a:t>
            </a:r>
            <a:r>
              <a:rPr lang="fr-FR" dirty="0"/>
              <a:t>, et même d’</a:t>
            </a:r>
            <a:r>
              <a:rPr lang="fr-FR" b="1" dirty="0"/>
              <a:t>attractivité pour les candidats</a:t>
            </a:r>
            <a:r>
              <a:rPr lang="fr-FR" dirty="0"/>
              <a:t>.</a:t>
            </a:r>
          </a:p>
          <a:p>
            <a:endParaRPr lang="fr-FR" dirty="0"/>
          </a:p>
          <a:p>
            <a:r>
              <a:rPr lang="fr-FR" dirty="0"/>
              <a:t>Alors plutôt que de cocher une case, on a pris le parti d’en faire un vrai moment d’analyse et de transparence.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fr-FR" smtClean="0"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790740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r>
              <a:rPr lang="fr-FR" dirty="0"/>
              <a:t>Pourquoi on a lancé ce diagnostic ?</a:t>
            </a:r>
          </a:p>
          <a:p>
            <a:br>
              <a:rPr lang="fr-FR" dirty="0"/>
            </a:br>
            <a:r>
              <a:rPr lang="fr-FR" dirty="0"/>
              <a:t>D’abord pour </a:t>
            </a:r>
            <a:r>
              <a:rPr lang="fr-FR" b="1" dirty="0"/>
              <a:t>identifier des déséquilibres potentiels</a:t>
            </a:r>
            <a:r>
              <a:rPr lang="fr-FR" dirty="0"/>
              <a:t>, évidemment, mais aussi pour </a:t>
            </a:r>
            <a:r>
              <a:rPr lang="fr-FR" b="1" dirty="0"/>
              <a:t>automatiser notre </a:t>
            </a:r>
            <a:r>
              <a:rPr lang="fr-FR" b="1" dirty="0" err="1"/>
              <a:t>reporting</a:t>
            </a:r>
            <a:r>
              <a:rPr lang="fr-FR" dirty="0"/>
              <a:t> — via des outils comme KNIME — et structurer nos données pour un suivi dans le temps, notamment via Tableau.</a:t>
            </a:r>
          </a:p>
          <a:p>
            <a:endParaRPr lang="fr-FR" dirty="0"/>
          </a:p>
          <a:p>
            <a:r>
              <a:rPr lang="fr-FR" dirty="0"/>
              <a:t>Mais surtout, on veut </a:t>
            </a:r>
            <a:r>
              <a:rPr lang="fr-FR" b="1" dirty="0"/>
              <a:t>mettre en place une démarche durable</a:t>
            </a:r>
            <a:r>
              <a:rPr lang="fr-FR" dirty="0"/>
              <a:t>. Pas juste un rapport annuel oublié dans un dossier.</a:t>
            </a:r>
          </a:p>
          <a:p>
            <a:endParaRPr lang="fr-FR" dirty="0"/>
          </a:p>
          <a:p>
            <a:r>
              <a:rPr lang="fr-FR" dirty="0"/>
              <a:t>Aujourd’hui, les talents, et en particulier les jeunes générations, </a:t>
            </a:r>
            <a:r>
              <a:rPr lang="fr-FR" b="1" dirty="0"/>
              <a:t>attendent des engagements concrets</a:t>
            </a:r>
            <a:r>
              <a:rPr lang="fr-FR" dirty="0"/>
              <a:t> sur ces sujets.</a:t>
            </a:r>
          </a:p>
          <a:p>
            <a:br>
              <a:rPr lang="fr-FR" dirty="0"/>
            </a:br>
            <a:r>
              <a:rPr lang="fr-FR" dirty="0"/>
              <a:t>L’égalité professionnelle, c’est aussi un </a:t>
            </a:r>
            <a:r>
              <a:rPr lang="fr-FR" b="1" dirty="0"/>
              <a:t>facteur de fidélisation</a:t>
            </a:r>
            <a:r>
              <a:rPr lang="fr-FR" dirty="0"/>
              <a:t>, de </a:t>
            </a:r>
            <a:r>
              <a:rPr lang="fr-FR" b="1" dirty="0"/>
              <a:t>cohésion interne</a:t>
            </a:r>
            <a:r>
              <a:rPr lang="fr-FR" dirty="0"/>
              <a:t>, et même de </a:t>
            </a:r>
            <a:r>
              <a:rPr lang="fr-FR" b="1" dirty="0"/>
              <a:t>performance collective</a:t>
            </a:r>
            <a:r>
              <a:rPr lang="fr-FR" dirty="0"/>
              <a:t>.</a:t>
            </a:r>
          </a:p>
          <a:p>
            <a:endParaRPr lang="fr-FR" dirty="0"/>
          </a:p>
          <a:p>
            <a:r>
              <a:rPr lang="fr-FR" dirty="0"/>
              <a:t>Donc ce travail, on le fait autant pour nous, que pour les futurs collègues qu’on souhaite attirer demain.</a:t>
            </a:r>
          </a:p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fr-FR" smtClean="0"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975797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B44953-8128-84B7-B839-5B8D518F8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0E36E01E-6CC2-A607-37E3-1E99C4EBAD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ECF6AC87-A3E3-EE00-1DD9-22DB267093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r>
              <a:rPr lang="fr-FR" dirty="0"/>
              <a:t>Premier constat : </a:t>
            </a:r>
            <a:r>
              <a:rPr lang="fr-FR" b="1" dirty="0"/>
              <a:t>la répartition femmes-hommes est quasi équilibrée</a:t>
            </a:r>
            <a:r>
              <a:rPr lang="fr-FR" dirty="0"/>
              <a:t>.</a:t>
            </a:r>
            <a:br>
              <a:rPr lang="fr-FR" dirty="0"/>
            </a:br>
            <a:r>
              <a:rPr lang="fr-FR" dirty="0"/>
              <a:t>On a 125 femmes, 131 hommes, donc un ratio de 49/51.</a:t>
            </a:r>
          </a:p>
          <a:p>
            <a:endParaRPr lang="fr-FR" dirty="0"/>
          </a:p>
          <a:p>
            <a:r>
              <a:rPr lang="fr-FR" dirty="0"/>
              <a:t>C’est loin d’être le cas partout. Dans beaucoup d’entreprises, notamment en tech ou en conseil, on est plutôt autour de </a:t>
            </a:r>
            <a:r>
              <a:rPr lang="fr-FR" b="1" dirty="0"/>
              <a:t>30 % de femmes</a:t>
            </a:r>
            <a:r>
              <a:rPr lang="fr-FR" dirty="0"/>
              <a:t> — parfois moins.</a:t>
            </a:r>
          </a:p>
          <a:p>
            <a:endParaRPr lang="fr-FR" dirty="0"/>
          </a:p>
          <a:p>
            <a:r>
              <a:rPr lang="fr-FR" dirty="0"/>
              <a:t>Donc cette base paritaire est une vraie force. Elle montre que </a:t>
            </a:r>
            <a:r>
              <a:rPr lang="fr-FR" b="1" dirty="0"/>
              <a:t>nos recrutements sont équilibrés</a:t>
            </a:r>
            <a:r>
              <a:rPr lang="fr-FR" dirty="0"/>
              <a:t>, et que l’égalité commence dès l’entrée dans l’entreprise.</a:t>
            </a:r>
          </a:p>
          <a:p>
            <a:endParaRPr lang="fr-FR" dirty="0"/>
          </a:p>
          <a:p>
            <a:r>
              <a:rPr lang="fr-FR" dirty="0"/>
              <a:t>Cela dit, ce chiffre global peut </a:t>
            </a:r>
            <a:r>
              <a:rPr lang="fr-FR" b="1" dirty="0"/>
              <a:t>masquer des écarts selon les services</a:t>
            </a:r>
            <a:r>
              <a:rPr lang="fr-FR" dirty="0"/>
              <a:t>, donc il faut aller plus loin dans l’analyse.</a:t>
            </a:r>
          </a:p>
          <a:p>
            <a:pPr rtl="0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84BB068-58B8-E5D0-88CE-5609040066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fr-FR" smtClean="0"/>
              <a:t>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475559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60BC9-326C-2D95-4553-7C3131629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3A45F3A8-BA4E-2D59-ECFE-7FED22230E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D77CCE81-A992-A0D5-600B-DB6AACAC2F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r>
              <a:rPr lang="fr-FR" dirty="0"/>
              <a:t>Quand on dézoome, on voit que la parité globale ne se reflète pas partout.</a:t>
            </a:r>
          </a:p>
          <a:p>
            <a:br>
              <a:rPr lang="fr-FR" dirty="0"/>
            </a:br>
            <a:r>
              <a:rPr lang="fr-FR" dirty="0"/>
              <a:t>Les services comme </a:t>
            </a:r>
            <a:r>
              <a:rPr lang="fr-FR" b="1" dirty="0"/>
              <a:t>RH ou comptabilité</a:t>
            </a:r>
            <a:r>
              <a:rPr lang="fr-FR" dirty="0"/>
              <a:t> sont très féminisés. À l’inverse, des services comme </a:t>
            </a:r>
            <a:r>
              <a:rPr lang="fr-FR" b="1" dirty="0"/>
              <a:t>consulting ou IT</a:t>
            </a:r>
            <a:r>
              <a:rPr lang="fr-FR" dirty="0"/>
              <a:t> sont majoritairement masculins.</a:t>
            </a:r>
          </a:p>
          <a:p>
            <a:endParaRPr lang="fr-FR" dirty="0"/>
          </a:p>
          <a:p>
            <a:r>
              <a:rPr lang="fr-FR" dirty="0"/>
              <a:t>Ce type de répartition est </a:t>
            </a:r>
            <a:r>
              <a:rPr lang="fr-FR" b="1" dirty="0"/>
              <a:t>assez typique</a:t>
            </a:r>
            <a:r>
              <a:rPr lang="fr-FR" dirty="0"/>
              <a:t> du marché. Mais il faut s’en méfier, car il </a:t>
            </a:r>
            <a:r>
              <a:rPr lang="fr-FR" b="1" dirty="0"/>
              <a:t>entretient des déséquilibres structurels</a:t>
            </a:r>
            <a:r>
              <a:rPr lang="fr-FR" dirty="0"/>
              <a:t> : les services masculins sont souvent </a:t>
            </a:r>
            <a:r>
              <a:rPr lang="fr-FR" b="1" dirty="0"/>
              <a:t>plus visibles, plus valorisés</a:t>
            </a:r>
            <a:r>
              <a:rPr lang="fr-FR" dirty="0"/>
              <a:t>, et parfois mieux rémunérés.</a:t>
            </a:r>
          </a:p>
          <a:p>
            <a:endParaRPr lang="fr-FR" dirty="0"/>
          </a:p>
          <a:p>
            <a:r>
              <a:rPr lang="fr-FR" dirty="0"/>
              <a:t>Donc même si le déséquilibre ne vient pas d’une injustice directe, il </a:t>
            </a:r>
            <a:r>
              <a:rPr lang="fr-FR" b="1" dirty="0"/>
              <a:t>a des conséquences indirectes</a:t>
            </a:r>
            <a:r>
              <a:rPr lang="fr-FR" dirty="0"/>
              <a:t>.</a:t>
            </a:r>
          </a:p>
          <a:p>
            <a:endParaRPr lang="fr-FR" dirty="0"/>
          </a:p>
          <a:p>
            <a:r>
              <a:rPr lang="fr-FR" dirty="0"/>
              <a:t>Par exemple, ça peut expliquer en partie </a:t>
            </a:r>
            <a:r>
              <a:rPr lang="fr-FR" b="1" dirty="0"/>
              <a:t>les écarts de salaire moyen</a:t>
            </a:r>
            <a:r>
              <a:rPr lang="fr-FR" dirty="0"/>
              <a:t> qu’on verra tout à l’heure.</a:t>
            </a:r>
          </a:p>
          <a:p>
            <a:endParaRPr lang="fr-FR" dirty="0"/>
          </a:p>
          <a:p>
            <a:r>
              <a:rPr lang="fr-FR" dirty="0"/>
              <a:t>C’est aussi une piste d’action : comment attirer plus de femmes en consulting, ou plus d’hommes dans les fonctions RH ?</a:t>
            </a:r>
          </a:p>
          <a:p>
            <a:pPr rtl="0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3BDE67F-9125-38C9-1459-15B5DD4B81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fr-FR" smtClean="0"/>
              <a:t>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119674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F760E-9820-33ED-A47C-6D86532B0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3FC932C6-7FD5-CEDF-9EA5-7D52B54504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59D8EC58-D347-CDF6-C628-8EA05CDCFE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r>
              <a:rPr lang="fr-FR" dirty="0"/>
              <a:t>Ici, on compare les </a:t>
            </a:r>
            <a:r>
              <a:rPr lang="fr-FR" b="1" dirty="0"/>
              <a:t>salaires de base mensuels moyens</a:t>
            </a:r>
            <a:r>
              <a:rPr lang="fr-FR" dirty="0"/>
              <a:t>.</a:t>
            </a:r>
            <a:br>
              <a:rPr lang="fr-FR" dirty="0"/>
            </a:br>
            <a:r>
              <a:rPr lang="fr-FR" dirty="0"/>
              <a:t>Femmes : 5 267 €, hommes : 5 383 € → soit </a:t>
            </a:r>
            <a:r>
              <a:rPr lang="fr-FR" b="1" dirty="0"/>
              <a:t>un écart d’environ 2,2 % en faveur des hommes</a:t>
            </a:r>
            <a:r>
              <a:rPr lang="fr-FR" dirty="0"/>
              <a:t>.</a:t>
            </a:r>
          </a:p>
          <a:p>
            <a:endParaRPr lang="fr-FR" dirty="0"/>
          </a:p>
          <a:p>
            <a:r>
              <a:rPr lang="fr-FR" dirty="0"/>
              <a:t>C’est </a:t>
            </a:r>
            <a:r>
              <a:rPr lang="fr-FR" b="1" dirty="0"/>
              <a:t>très faible</a:t>
            </a:r>
            <a:r>
              <a:rPr lang="fr-FR" dirty="0"/>
              <a:t>, et </a:t>
            </a:r>
            <a:r>
              <a:rPr lang="fr-FR" b="1" dirty="0"/>
              <a:t>largement en dessous du seuil d’alerte légal</a:t>
            </a:r>
            <a:r>
              <a:rPr lang="fr-FR" dirty="0"/>
              <a:t> (5 %).</a:t>
            </a:r>
            <a:br>
              <a:rPr lang="fr-FR" dirty="0"/>
            </a:br>
            <a:r>
              <a:rPr lang="fr-FR" dirty="0"/>
              <a:t>À titre de comparaison, dans le secteur privé en France, l’écart moyen est de </a:t>
            </a:r>
            <a:r>
              <a:rPr lang="fr-FR" b="1" dirty="0"/>
              <a:t>15 à 20 % brut</a:t>
            </a:r>
            <a:r>
              <a:rPr lang="fr-FR" dirty="0"/>
              <a:t>.</a:t>
            </a:r>
          </a:p>
          <a:p>
            <a:endParaRPr lang="fr-FR" dirty="0"/>
          </a:p>
          <a:p>
            <a:r>
              <a:rPr lang="fr-FR" dirty="0"/>
              <a:t>Donc c’est un très bon résultat, mais ce n’est </a:t>
            </a:r>
            <a:r>
              <a:rPr lang="fr-FR" b="1" dirty="0"/>
              <a:t>pas un acquis</a:t>
            </a:r>
            <a:r>
              <a:rPr lang="fr-FR" dirty="0"/>
              <a:t> : il faut maintenir cette vigilance.</a:t>
            </a:r>
            <a:br>
              <a:rPr lang="fr-FR" dirty="0"/>
            </a:br>
            <a:r>
              <a:rPr lang="fr-FR" dirty="0"/>
              <a:t>Et cet écart, même faible, est </a:t>
            </a:r>
            <a:r>
              <a:rPr lang="fr-FR" b="1" dirty="0"/>
              <a:t>le résultat d’un ensemble de facteurs</a:t>
            </a:r>
            <a:r>
              <a:rPr lang="fr-FR" dirty="0"/>
              <a:t> qu’on a commencé à voir :</a:t>
            </a:r>
          </a:p>
          <a:p>
            <a:endParaRPr lang="fr-FR" dirty="0"/>
          </a:p>
          <a:p>
            <a:r>
              <a:rPr lang="fr-FR" dirty="0"/>
              <a:t>- La répartition par service,</a:t>
            </a:r>
          </a:p>
          <a:p>
            <a:r>
              <a:rPr lang="fr-FR" dirty="0"/>
              <a:t>- La présence dans les hauts salaires,</a:t>
            </a:r>
          </a:p>
          <a:p>
            <a:r>
              <a:rPr lang="fr-FR" dirty="0"/>
              <a:t>- Les parcours de carrière.</a:t>
            </a:r>
          </a:p>
          <a:p>
            <a:endParaRPr lang="fr-FR" dirty="0"/>
          </a:p>
          <a:p>
            <a:r>
              <a:rPr lang="fr-FR" dirty="0"/>
              <a:t>Ce n’est pas un seul chiffre à corriger, c’est une dynamique à faire évoluer.</a:t>
            </a:r>
          </a:p>
          <a:p>
            <a:pPr rtl="0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FDD70D5-4412-C890-467A-394653FA7F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fr-FR" smtClean="0"/>
              <a:t>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734242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r>
              <a:rPr lang="fr-FR" dirty="0"/>
              <a:t>Ce graphique montre la </a:t>
            </a:r>
            <a:r>
              <a:rPr lang="fr-FR" b="1" dirty="0"/>
              <a:t>répartition des salariés par tranches de salaires</a:t>
            </a:r>
            <a:r>
              <a:rPr lang="fr-FR" dirty="0"/>
              <a:t>, selon le genre.</a:t>
            </a:r>
            <a:br>
              <a:rPr lang="fr-FR" dirty="0"/>
            </a:br>
            <a:r>
              <a:rPr lang="fr-FR" dirty="0"/>
              <a:t>Ce qu’on voit, c’est que la distribution est </a:t>
            </a:r>
            <a:r>
              <a:rPr lang="fr-FR" b="1" dirty="0"/>
              <a:t>plutôt équilibrée</a:t>
            </a:r>
            <a:r>
              <a:rPr lang="fr-FR" dirty="0"/>
              <a:t> dans les tranches basses et moyennes.</a:t>
            </a:r>
          </a:p>
          <a:p>
            <a:endParaRPr lang="fr-FR" dirty="0"/>
          </a:p>
          <a:p>
            <a:r>
              <a:rPr lang="fr-FR" dirty="0"/>
              <a:t>Mais dès qu’on passe au-delà de </a:t>
            </a:r>
            <a:r>
              <a:rPr lang="fr-FR" b="1" dirty="0"/>
              <a:t>8 500 €</a:t>
            </a:r>
            <a:r>
              <a:rPr lang="fr-FR" dirty="0"/>
              <a:t>, les femmes deviennent </a:t>
            </a:r>
            <a:r>
              <a:rPr lang="fr-FR" b="1" dirty="0"/>
              <a:t>nettement moins présentes</a:t>
            </a:r>
            <a:r>
              <a:rPr lang="fr-FR" dirty="0"/>
              <a:t>.</a:t>
            </a:r>
          </a:p>
          <a:p>
            <a:endParaRPr lang="fr-FR" dirty="0"/>
          </a:p>
          <a:p>
            <a:r>
              <a:rPr lang="fr-FR" dirty="0"/>
              <a:t>Ce phénomène, on l’observe dans toutes les entreprises. Il s’explique par une </a:t>
            </a:r>
            <a:r>
              <a:rPr lang="fr-FR" b="1" dirty="0"/>
              <a:t>sous-représentation des femmes dans les postes de direction ou les fonctions à variable élevé</a:t>
            </a:r>
            <a:r>
              <a:rPr lang="fr-FR" dirty="0"/>
              <a:t>.</a:t>
            </a:r>
          </a:p>
          <a:p>
            <a:endParaRPr lang="fr-FR" dirty="0"/>
          </a:p>
          <a:p>
            <a:r>
              <a:rPr lang="fr-FR" dirty="0"/>
              <a:t>Et ce qu’on sait, c’est que les écarts de salaires </a:t>
            </a:r>
            <a:r>
              <a:rPr lang="fr-FR" b="1" dirty="0"/>
              <a:t>se creusent souvent en fin de carrière</a:t>
            </a:r>
            <a:r>
              <a:rPr lang="fr-FR" dirty="0"/>
              <a:t>, pas au début.</a:t>
            </a:r>
          </a:p>
          <a:p>
            <a:endParaRPr lang="fr-FR" dirty="0"/>
          </a:p>
          <a:p>
            <a:r>
              <a:rPr lang="fr-FR" dirty="0"/>
              <a:t>Donc il est essentiel de </a:t>
            </a:r>
            <a:r>
              <a:rPr lang="fr-FR" b="1" dirty="0"/>
              <a:t>préparer les évolutions de demain</a:t>
            </a:r>
            <a:r>
              <a:rPr lang="fr-FR" dirty="0"/>
              <a:t> dès aujourd’hui : par les promotions, les mobilités, le mentorat...</a:t>
            </a:r>
          </a:p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fr-FR" smtClean="0"/>
              <a:t>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511246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r>
              <a:rPr lang="fr-FR" dirty="0"/>
              <a:t>Ici, on regarde le </a:t>
            </a:r>
            <a:r>
              <a:rPr lang="fr-FR" b="1" dirty="0"/>
              <a:t>taux d’augmentation individuelle</a:t>
            </a:r>
            <a:r>
              <a:rPr lang="fr-FR" dirty="0"/>
              <a:t>, par genre.</a:t>
            </a:r>
            <a:br>
              <a:rPr lang="fr-FR" dirty="0"/>
            </a:br>
            <a:r>
              <a:rPr lang="fr-FR" dirty="0"/>
              <a:t>Résultat : 53,6 % des femmes ont été augmentées, contre 46,6 % des hommes.</a:t>
            </a:r>
          </a:p>
          <a:p>
            <a:endParaRPr lang="fr-FR" dirty="0"/>
          </a:p>
          <a:p>
            <a:r>
              <a:rPr lang="fr-FR" dirty="0"/>
              <a:t>C’est un </a:t>
            </a:r>
            <a:r>
              <a:rPr lang="fr-FR" b="1" dirty="0"/>
              <a:t>signal très positif</a:t>
            </a:r>
            <a:r>
              <a:rPr lang="fr-FR" dirty="0"/>
              <a:t>, surtout dans un contexte où les femmes restent souvent moins visibles dans les négociations salariales.</a:t>
            </a:r>
          </a:p>
          <a:p>
            <a:endParaRPr lang="fr-FR" dirty="0"/>
          </a:p>
          <a:p>
            <a:r>
              <a:rPr lang="fr-FR" dirty="0"/>
              <a:t>Mais on doit aussi le voir comme un </a:t>
            </a:r>
            <a:r>
              <a:rPr lang="fr-FR" b="1" dirty="0"/>
              <a:t>effort de rééquilibrage</a:t>
            </a:r>
            <a:r>
              <a:rPr lang="fr-FR" dirty="0"/>
              <a:t> : car malgré ces augmentations, </a:t>
            </a:r>
            <a:r>
              <a:rPr lang="fr-FR" b="1" dirty="0"/>
              <a:t>le salaire moyen reste encore légèrement inférieur pour les femmes</a:t>
            </a:r>
            <a:r>
              <a:rPr lang="fr-FR" dirty="0"/>
              <a:t>.</a:t>
            </a:r>
          </a:p>
          <a:p>
            <a:endParaRPr lang="fr-FR" dirty="0"/>
          </a:p>
          <a:p>
            <a:r>
              <a:rPr lang="fr-FR" dirty="0"/>
              <a:t>Ce type d’écart est souvent la </a:t>
            </a:r>
            <a:r>
              <a:rPr lang="fr-FR" b="1" dirty="0"/>
              <a:t>conséquence d’effets cumulés</a:t>
            </a:r>
            <a:r>
              <a:rPr lang="fr-FR" dirty="0"/>
              <a:t> dans le temps.</a:t>
            </a:r>
            <a:br>
              <a:rPr lang="fr-FR" dirty="0"/>
            </a:br>
            <a:r>
              <a:rPr lang="fr-FR" dirty="0"/>
              <a:t>Donc ces augmentations plus fréquentes sont une bonne réponse, </a:t>
            </a:r>
            <a:r>
              <a:rPr lang="fr-FR" b="1" dirty="0"/>
              <a:t>à condition qu’elles se poursuivent</a:t>
            </a:r>
            <a:r>
              <a:rPr lang="fr-FR" dirty="0"/>
              <a:t>.</a:t>
            </a:r>
          </a:p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fr-FR" smtClean="0"/>
              <a:t>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433798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6A6F8-1588-4325-DA3E-7AF27BFEB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0826D2C5-60FA-7E36-34DA-B115673196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FD729CC5-3934-356B-5CFE-6FE818289F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r>
              <a:rPr lang="fr-FR" dirty="0"/>
              <a:t>Côté promotions, même tendance : 17,6 % des femmes promues contre 16,8 % des hommes.</a:t>
            </a:r>
            <a:br>
              <a:rPr lang="fr-FR" dirty="0"/>
            </a:br>
            <a:r>
              <a:rPr lang="fr-FR" dirty="0"/>
              <a:t>Là aussi, on est sur une </a:t>
            </a:r>
            <a:r>
              <a:rPr lang="fr-FR" b="1" dirty="0"/>
              <a:t>dynamique équilibrée</a:t>
            </a:r>
            <a:r>
              <a:rPr lang="fr-FR" dirty="0"/>
              <a:t>, avec même un léger avantage pour les femmes.</a:t>
            </a:r>
          </a:p>
          <a:p>
            <a:endParaRPr lang="fr-FR" dirty="0"/>
          </a:p>
          <a:p>
            <a:r>
              <a:rPr lang="fr-FR" dirty="0"/>
              <a:t>Ces chiffres sont importants car </a:t>
            </a:r>
            <a:r>
              <a:rPr lang="fr-FR" b="1" dirty="0"/>
              <a:t>la promotion est un levier clé pour accéder aux responsabilités</a:t>
            </a:r>
            <a:r>
              <a:rPr lang="fr-FR" dirty="0"/>
              <a:t>, donc </a:t>
            </a:r>
            <a:r>
              <a:rPr lang="fr-FR" b="1" dirty="0"/>
              <a:t>aux meilleures rémunérations</a:t>
            </a:r>
            <a:r>
              <a:rPr lang="fr-FR" dirty="0"/>
              <a:t>.</a:t>
            </a:r>
          </a:p>
          <a:p>
            <a:endParaRPr lang="fr-FR" dirty="0"/>
          </a:p>
          <a:p>
            <a:r>
              <a:rPr lang="fr-FR" dirty="0"/>
              <a:t>Ce qu’on va voir tout à l’heure dans le top 10 des salaires, c’est que la parité est encore loin.</a:t>
            </a:r>
          </a:p>
          <a:p>
            <a:br>
              <a:rPr lang="fr-FR" dirty="0"/>
            </a:br>
            <a:r>
              <a:rPr lang="fr-FR" dirty="0"/>
              <a:t>Donc ces promotions sont un premier pas vers </a:t>
            </a:r>
            <a:r>
              <a:rPr lang="fr-FR" b="1" dirty="0"/>
              <a:t>une évolution à plus long terme</a:t>
            </a:r>
            <a:r>
              <a:rPr lang="fr-FR" dirty="0"/>
              <a:t>.</a:t>
            </a:r>
          </a:p>
          <a:p>
            <a:pPr rtl="0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0789E49-17A4-992F-112A-483D7B525D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fr-FR" smtClean="0"/>
              <a:t>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636247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4A95A-7A54-5F36-312E-4858B2911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13526020-BD39-CEF1-9B4D-738F469992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4BEF65D1-36D2-107D-76F4-043EDEAF76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r>
              <a:rPr lang="fr-FR" dirty="0"/>
              <a:t>Ce graphique est un peu contre-intuitif…</a:t>
            </a:r>
          </a:p>
          <a:p>
            <a:br>
              <a:rPr lang="fr-FR" dirty="0"/>
            </a:br>
            <a:r>
              <a:rPr lang="fr-FR" dirty="0"/>
              <a:t>On pourrait penser que le temps partiel concerne surtout </a:t>
            </a:r>
            <a:r>
              <a:rPr lang="fr-FR" b="1" dirty="0"/>
              <a:t>les salariés avec enfants</a:t>
            </a:r>
            <a:r>
              <a:rPr lang="fr-FR" dirty="0"/>
              <a:t>, mais ici c’est l’inverse :</a:t>
            </a:r>
            <a:br>
              <a:rPr lang="fr-FR" dirty="0"/>
            </a:br>
            <a:r>
              <a:rPr lang="fr-FR" dirty="0"/>
              <a:t>le </a:t>
            </a:r>
            <a:r>
              <a:rPr lang="fr-FR" b="1" dirty="0"/>
              <a:t>temps partiel est plus fréquent chez les salariés sans enfants</a:t>
            </a:r>
            <a:r>
              <a:rPr lang="fr-FR" dirty="0"/>
              <a:t>, pour </a:t>
            </a:r>
            <a:r>
              <a:rPr lang="fr-FR" b="1" dirty="0"/>
              <a:t>les femmes comme pour les hommes</a:t>
            </a:r>
            <a:r>
              <a:rPr lang="fr-FR" dirty="0"/>
              <a:t>.</a:t>
            </a:r>
          </a:p>
          <a:p>
            <a:endParaRPr lang="fr-FR" dirty="0"/>
          </a:p>
          <a:p>
            <a:r>
              <a:rPr lang="fr-FR" dirty="0"/>
              <a:t>Ce que ça nous dit ? D’abord que le temps partiel peut répondre à </a:t>
            </a:r>
            <a:r>
              <a:rPr lang="fr-FR" b="1" dirty="0"/>
              <a:t>plein d'autres réalités</a:t>
            </a:r>
            <a:r>
              <a:rPr lang="fr-FR" dirty="0"/>
              <a:t> que la parentalité :</a:t>
            </a:r>
            <a:br>
              <a:rPr lang="fr-FR" dirty="0"/>
            </a:br>
            <a:r>
              <a:rPr lang="fr-FR" dirty="0"/>
              <a:t>études, équilibre personnel, transition pro, reconversion…</a:t>
            </a:r>
          </a:p>
          <a:p>
            <a:endParaRPr lang="fr-FR" dirty="0"/>
          </a:p>
          <a:p>
            <a:r>
              <a:rPr lang="fr-FR" dirty="0"/>
              <a:t>Mais un autre point à noter : </a:t>
            </a:r>
            <a:r>
              <a:rPr lang="fr-FR" b="1" dirty="0"/>
              <a:t>chez les salariés avec enfants</a:t>
            </a:r>
            <a:r>
              <a:rPr lang="fr-FR" dirty="0"/>
              <a:t>, il y a </a:t>
            </a:r>
            <a:r>
              <a:rPr lang="fr-FR" b="1" dirty="0"/>
              <a:t>plus d’hommes que de femmes à temps partiel</a:t>
            </a:r>
            <a:r>
              <a:rPr lang="fr-FR" dirty="0"/>
              <a:t>.</a:t>
            </a:r>
            <a:br>
              <a:rPr lang="fr-FR" dirty="0"/>
            </a:br>
            <a:r>
              <a:rPr lang="fr-FR" dirty="0"/>
              <a:t>C’est rare ! Et c’est plutôt </a:t>
            </a:r>
            <a:r>
              <a:rPr lang="fr-FR" b="1" dirty="0"/>
              <a:t>un bon signal</a:t>
            </a:r>
            <a:r>
              <a:rPr lang="fr-FR" dirty="0"/>
              <a:t>.</a:t>
            </a:r>
            <a:br>
              <a:rPr lang="fr-FR" dirty="0"/>
            </a:br>
            <a:r>
              <a:rPr lang="fr-FR" dirty="0"/>
              <a:t>Ça montre que </a:t>
            </a:r>
            <a:r>
              <a:rPr lang="fr-FR" b="1" dirty="0"/>
              <a:t>certains hommes s’impliquent davantage dans la vie familiale</a:t>
            </a:r>
            <a:r>
              <a:rPr lang="fr-FR" dirty="0"/>
              <a:t>, ce qu’on doit encourager.</a:t>
            </a:r>
          </a:p>
          <a:p>
            <a:endParaRPr lang="fr-FR" dirty="0"/>
          </a:p>
          <a:p>
            <a:r>
              <a:rPr lang="fr-FR" dirty="0"/>
              <a:t>Par contre, attention à ne pas conclure trop vite que tout va bien :</a:t>
            </a:r>
            <a:br>
              <a:rPr lang="fr-FR" dirty="0"/>
            </a:br>
            <a:r>
              <a:rPr lang="fr-FR" dirty="0"/>
              <a:t>il faut surtout s’assurer que le </a:t>
            </a:r>
            <a:r>
              <a:rPr lang="fr-FR" b="1" dirty="0"/>
              <a:t>temps partiel est un vrai choix</a:t>
            </a:r>
            <a:r>
              <a:rPr lang="fr-FR" dirty="0"/>
              <a:t>, pas une contrainte, ni un frein à l’évolution.</a:t>
            </a:r>
          </a:p>
          <a:p>
            <a:endParaRPr lang="fr-FR" dirty="0"/>
          </a:p>
          <a:p>
            <a:r>
              <a:rPr lang="fr-FR" dirty="0"/>
              <a:t>Dans d'autres entreprises, les femmes paient souvent le prix fort de la parentalité.</a:t>
            </a:r>
            <a:br>
              <a:rPr lang="fr-FR" dirty="0"/>
            </a:br>
            <a:r>
              <a:rPr lang="fr-FR" dirty="0"/>
              <a:t>Ici, les chiffres sont plus équilibrés, mais ça reste un sujet à </a:t>
            </a:r>
            <a:r>
              <a:rPr lang="fr-FR" b="1" dirty="0"/>
              <a:t>suivre dans la durée</a:t>
            </a:r>
            <a:r>
              <a:rPr lang="fr-FR" dirty="0"/>
              <a:t>.</a:t>
            </a:r>
          </a:p>
          <a:p>
            <a:pPr rtl="0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7A7CEB7-BFE1-FA56-F2F1-5C5A3F07F1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fr-FR" smtClean="0"/>
              <a:t>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205402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3A67D-8F0B-4D6E-5F87-7EAB7AB22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1AE87ED9-F9A8-730B-3706-3452AD98A9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DEF4C2A3-687A-CCB8-7622-6A38CB83D5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r>
              <a:rPr lang="fr-FR" dirty="0"/>
              <a:t>Là on regarde la </a:t>
            </a:r>
            <a:r>
              <a:rPr lang="fr-FR" b="1" dirty="0"/>
              <a:t>part variable de la rémunération</a:t>
            </a:r>
            <a:r>
              <a:rPr lang="fr-FR" dirty="0"/>
              <a:t> — donc primes, bonus, etc.</a:t>
            </a:r>
          </a:p>
          <a:p>
            <a:endParaRPr lang="fr-FR" dirty="0"/>
          </a:p>
          <a:p>
            <a:r>
              <a:rPr lang="fr-FR" dirty="0"/>
              <a:t>Chez les salariés </a:t>
            </a:r>
            <a:r>
              <a:rPr lang="fr-FR" b="1" dirty="0"/>
              <a:t>sans enfants</a:t>
            </a:r>
            <a:r>
              <a:rPr lang="fr-FR" dirty="0"/>
              <a:t>, les hommes perçoivent en moyenne </a:t>
            </a:r>
            <a:r>
              <a:rPr lang="fr-FR" b="1" dirty="0"/>
              <a:t>3 points de plus</a:t>
            </a:r>
            <a:r>
              <a:rPr lang="fr-FR" dirty="0"/>
              <a:t> que les femmes.</a:t>
            </a:r>
            <a:br>
              <a:rPr lang="fr-FR" dirty="0"/>
            </a:br>
            <a:r>
              <a:rPr lang="fr-FR" dirty="0"/>
              <a:t>Mais chez les </a:t>
            </a:r>
            <a:r>
              <a:rPr lang="fr-FR" b="1" dirty="0"/>
              <a:t>salariés avec enfants</a:t>
            </a:r>
            <a:r>
              <a:rPr lang="fr-FR" dirty="0"/>
              <a:t>, c’est l’inverse : les femmes touchent </a:t>
            </a:r>
            <a:r>
              <a:rPr lang="fr-FR" b="1" dirty="0"/>
              <a:t>1,2 point de plus</a:t>
            </a:r>
            <a:r>
              <a:rPr lang="fr-FR" dirty="0"/>
              <a:t> que les hommes.</a:t>
            </a:r>
          </a:p>
          <a:p>
            <a:endParaRPr lang="fr-FR" dirty="0"/>
          </a:p>
          <a:p>
            <a:r>
              <a:rPr lang="fr-FR" dirty="0"/>
              <a:t>Ce qu’on peut en conclure :</a:t>
            </a:r>
            <a:br>
              <a:rPr lang="fr-FR" dirty="0"/>
            </a:br>
            <a:r>
              <a:rPr lang="fr-FR" dirty="0"/>
              <a:t>➤ D’un côté, </a:t>
            </a:r>
            <a:r>
              <a:rPr lang="fr-FR" b="1" dirty="0"/>
              <a:t>la parentalité ne semble pas pénaliser les femmes</a:t>
            </a:r>
            <a:r>
              <a:rPr lang="fr-FR" dirty="0"/>
              <a:t>, au contraire.</a:t>
            </a:r>
            <a:br>
              <a:rPr lang="fr-FR" dirty="0"/>
            </a:br>
            <a:r>
              <a:rPr lang="fr-FR" dirty="0"/>
              <a:t>Et ça, c’est très rare dans les statistiques !</a:t>
            </a:r>
            <a:br>
              <a:rPr lang="fr-FR" dirty="0"/>
            </a:br>
            <a:r>
              <a:rPr lang="fr-FR" dirty="0"/>
              <a:t>➤ De l’autre côté, l’écart chez les non-parents </a:t>
            </a:r>
            <a:r>
              <a:rPr lang="fr-FR" b="1" dirty="0"/>
              <a:t>interroge</a:t>
            </a:r>
            <a:r>
              <a:rPr lang="fr-FR" dirty="0"/>
              <a:t> : est-ce lié à une différence de performance ? De visibilité ? D’affectation aux missions ?</a:t>
            </a:r>
            <a:br>
              <a:rPr lang="fr-FR" dirty="0"/>
            </a:br>
            <a:r>
              <a:rPr lang="fr-FR" dirty="0"/>
              <a:t>Ou peut-être à une </a:t>
            </a:r>
            <a:r>
              <a:rPr lang="fr-FR" b="1" dirty="0"/>
              <a:t>inégalité dans les critères d’attribution des primes</a:t>
            </a:r>
            <a:r>
              <a:rPr lang="fr-FR" dirty="0"/>
              <a:t> ?</a:t>
            </a:r>
          </a:p>
          <a:p>
            <a:endParaRPr lang="fr-FR" dirty="0"/>
          </a:p>
          <a:p>
            <a:r>
              <a:rPr lang="fr-FR" dirty="0"/>
              <a:t>En tout cas, c’est un indicateur intéressant car il </a:t>
            </a:r>
            <a:r>
              <a:rPr lang="fr-FR" b="1" dirty="0"/>
              <a:t>complète les données sur le salaire fixe</a:t>
            </a:r>
            <a:r>
              <a:rPr lang="fr-FR" dirty="0"/>
              <a:t>.</a:t>
            </a:r>
            <a:br>
              <a:rPr lang="fr-FR" dirty="0"/>
            </a:br>
            <a:r>
              <a:rPr lang="fr-FR" dirty="0"/>
              <a:t>Et surtout, il </a:t>
            </a:r>
            <a:r>
              <a:rPr lang="fr-FR" b="1" dirty="0"/>
              <a:t>montre l'importance de ne pas regarder les moyennes globales sans creuser</a:t>
            </a:r>
            <a:r>
              <a:rPr lang="fr-FR" dirty="0"/>
              <a:t>.</a:t>
            </a:r>
          </a:p>
          <a:p>
            <a:pPr rtl="0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6D996EC-1A29-D6F2-A197-8C46A8BEDD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fr-FR" smtClean="0"/>
              <a:t>10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779230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6E110-DAF2-1256-7284-3B6127F26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4723E133-3210-58F6-D03F-CD7C883932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FB105BA9-ECC9-B33B-D50F-C81061AB96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r>
              <a:rPr lang="fr-FR" dirty="0"/>
              <a:t>Ce graphique est simple et parlant : on y voit les </a:t>
            </a:r>
            <a:r>
              <a:rPr lang="fr-FR" b="1" dirty="0"/>
              <a:t>10 plus hauts salaires de l’entreprise</a:t>
            </a:r>
            <a:r>
              <a:rPr lang="fr-FR" dirty="0"/>
              <a:t>.</a:t>
            </a:r>
          </a:p>
          <a:p>
            <a:endParaRPr lang="fr-FR" dirty="0"/>
          </a:p>
          <a:p>
            <a:r>
              <a:rPr lang="fr-FR" dirty="0"/>
              <a:t>Ce qui saute aux yeux, c’est que </a:t>
            </a:r>
            <a:r>
              <a:rPr lang="fr-FR" b="1" dirty="0"/>
              <a:t>7 sur 10 sont occupés par des hommes</a:t>
            </a:r>
            <a:r>
              <a:rPr lang="fr-FR" dirty="0"/>
              <a:t>.</a:t>
            </a:r>
            <a:br>
              <a:rPr lang="fr-FR" dirty="0"/>
            </a:br>
            <a:r>
              <a:rPr lang="fr-FR" dirty="0"/>
              <a:t>Là aussi, c’est un constat qu’on retrouve dans quasiment toutes les entreprises.</a:t>
            </a:r>
          </a:p>
          <a:p>
            <a:endParaRPr lang="fr-FR" dirty="0"/>
          </a:p>
          <a:p>
            <a:r>
              <a:rPr lang="fr-FR" dirty="0"/>
              <a:t>Ce qu’il faut bien comprendre, c’est que les écarts de salaire </a:t>
            </a:r>
            <a:r>
              <a:rPr lang="fr-FR" b="1" dirty="0"/>
              <a:t>se jouent aussi dans ces chiffres extrêmes</a:t>
            </a:r>
            <a:r>
              <a:rPr lang="fr-FR" dirty="0"/>
              <a:t>.</a:t>
            </a:r>
            <a:br>
              <a:rPr lang="fr-FR" dirty="0"/>
            </a:br>
            <a:r>
              <a:rPr lang="fr-FR" dirty="0"/>
              <a:t>Quelques très hauts salaires masculins peuvent </a:t>
            </a:r>
            <a:r>
              <a:rPr lang="fr-FR" b="1" dirty="0"/>
              <a:t>faire remonter la moyenne globale</a:t>
            </a:r>
            <a:r>
              <a:rPr lang="fr-FR" dirty="0"/>
              <a:t>, même si tout le reste est bien équilibré.</a:t>
            </a:r>
          </a:p>
          <a:p>
            <a:endParaRPr lang="fr-FR" dirty="0"/>
          </a:p>
          <a:p>
            <a:r>
              <a:rPr lang="fr-FR" dirty="0"/>
              <a:t>Et ça remet en lumière </a:t>
            </a:r>
            <a:r>
              <a:rPr lang="fr-FR" b="1" dirty="0"/>
              <a:t>le rôle des promotions</a:t>
            </a:r>
            <a:r>
              <a:rPr lang="fr-FR" dirty="0"/>
              <a:t>, qu’on a vues tout à l’heure :</a:t>
            </a:r>
            <a:br>
              <a:rPr lang="fr-FR" dirty="0"/>
            </a:br>
            <a:r>
              <a:rPr lang="fr-FR" dirty="0"/>
              <a:t>si les femmes sont plus promues aujourd’hui, </a:t>
            </a:r>
            <a:r>
              <a:rPr lang="fr-FR" b="1" dirty="0"/>
              <a:t>on devrait voir leur présence augmenter dans le top 10 dans quelques années.</a:t>
            </a:r>
          </a:p>
          <a:p>
            <a:endParaRPr lang="fr-FR" dirty="0"/>
          </a:p>
          <a:p>
            <a:r>
              <a:rPr lang="fr-FR" dirty="0"/>
              <a:t>Autrement dit, </a:t>
            </a:r>
            <a:r>
              <a:rPr lang="fr-FR" b="1" dirty="0"/>
              <a:t>les actions RH qu’on mène maintenant</a:t>
            </a:r>
            <a:r>
              <a:rPr lang="fr-FR" dirty="0"/>
              <a:t> vont produire leurs effets </a:t>
            </a:r>
            <a:r>
              <a:rPr lang="fr-FR" b="1" dirty="0"/>
              <a:t>à moyen terme</a:t>
            </a:r>
            <a:r>
              <a:rPr lang="fr-FR" dirty="0"/>
              <a:t> — à condition qu’on les maintienne.</a:t>
            </a:r>
          </a:p>
          <a:p>
            <a:pPr rtl="0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99CC9C3-DF48-8114-1A04-98C3B06EF5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fr-FR" smtClean="0"/>
              <a:t>11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448596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7277C-D8A8-0F0E-1458-39F548F68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9DB012BF-39AC-FF4C-C650-3E083CA0B3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958A49C7-883E-FDEF-99A0-7F030A786E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r>
              <a:rPr lang="fr-FR" dirty="0"/>
              <a:t>Si on fait le bilan global, le diagnostic est plutôt </a:t>
            </a:r>
            <a:r>
              <a:rPr lang="fr-FR" b="1" dirty="0"/>
              <a:t>rassurant</a:t>
            </a:r>
            <a:r>
              <a:rPr lang="fr-FR" dirty="0"/>
              <a:t> :</a:t>
            </a:r>
          </a:p>
          <a:p>
            <a:endParaRPr lang="fr-FR" dirty="0"/>
          </a:p>
          <a:p>
            <a:r>
              <a:rPr lang="fr-FR" dirty="0"/>
              <a:t>- On a </a:t>
            </a:r>
            <a:r>
              <a:rPr lang="fr-FR" b="1" dirty="0"/>
              <a:t>peu d’écart de salaire</a:t>
            </a:r>
            <a:r>
              <a:rPr lang="fr-FR" dirty="0"/>
              <a:t>,</a:t>
            </a:r>
          </a:p>
          <a:p>
            <a:r>
              <a:rPr lang="fr-FR" dirty="0"/>
              <a:t>- Des pratiques </a:t>
            </a:r>
            <a:r>
              <a:rPr lang="fr-FR" b="1" dirty="0"/>
              <a:t>plutôt équitables sur les augmentations et promotions</a:t>
            </a:r>
            <a:r>
              <a:rPr lang="fr-FR" dirty="0"/>
              <a:t>,</a:t>
            </a:r>
          </a:p>
          <a:p>
            <a:r>
              <a:rPr lang="fr-FR" dirty="0"/>
              <a:t>- Et </a:t>
            </a:r>
            <a:r>
              <a:rPr lang="fr-FR" b="1" dirty="0"/>
              <a:t>aucun signal de discrimination directe</a:t>
            </a:r>
            <a:r>
              <a:rPr lang="fr-FR" dirty="0"/>
              <a:t> sur la parentalité.</a:t>
            </a:r>
          </a:p>
          <a:p>
            <a:endParaRPr lang="fr-FR" dirty="0"/>
          </a:p>
          <a:p>
            <a:r>
              <a:rPr lang="fr-FR" dirty="0"/>
              <a:t>Mais on a aussi </a:t>
            </a:r>
            <a:r>
              <a:rPr lang="fr-FR" b="1" dirty="0"/>
              <a:t>des marges de progression</a:t>
            </a:r>
            <a:r>
              <a:rPr lang="fr-FR" dirty="0"/>
              <a:t>, sur :</a:t>
            </a:r>
          </a:p>
          <a:p>
            <a:endParaRPr lang="fr-FR" dirty="0"/>
          </a:p>
          <a:p>
            <a:r>
              <a:rPr lang="fr-FR" dirty="0"/>
              <a:t>- La représentation féminine dans les </a:t>
            </a:r>
            <a:r>
              <a:rPr lang="fr-FR" b="1" dirty="0"/>
              <a:t>postes à forte rémunération</a:t>
            </a:r>
            <a:r>
              <a:rPr lang="fr-FR" dirty="0"/>
              <a:t>,</a:t>
            </a:r>
          </a:p>
          <a:p>
            <a:r>
              <a:rPr lang="fr-FR" dirty="0"/>
              <a:t>- Le </a:t>
            </a:r>
            <a:r>
              <a:rPr lang="fr-FR" b="1" dirty="0"/>
              <a:t>temps partiel</a:t>
            </a:r>
            <a:r>
              <a:rPr lang="fr-FR" dirty="0"/>
              <a:t>, dont l’usage semble encore genré,</a:t>
            </a:r>
          </a:p>
          <a:p>
            <a:r>
              <a:rPr lang="fr-FR" dirty="0"/>
              <a:t>- Et la </a:t>
            </a:r>
            <a:r>
              <a:rPr lang="fr-FR" b="1" dirty="0"/>
              <a:t>qualité des données</a:t>
            </a:r>
            <a:r>
              <a:rPr lang="fr-FR" dirty="0"/>
              <a:t>, qui nous empêche aujourd’hui de calculer un index complet à 100 %.</a:t>
            </a:r>
          </a:p>
          <a:p>
            <a:endParaRPr lang="fr-FR" dirty="0"/>
          </a:p>
          <a:p>
            <a:r>
              <a:rPr lang="fr-FR" dirty="0"/>
              <a:t>Les leviers, ils sont clairs :</a:t>
            </a:r>
          </a:p>
          <a:p>
            <a:br>
              <a:rPr lang="fr-FR" dirty="0"/>
            </a:br>
            <a:r>
              <a:rPr lang="fr-FR" dirty="0"/>
              <a:t>➤ Mieux accompagner les carrières féminines,</a:t>
            </a:r>
            <a:br>
              <a:rPr lang="fr-FR" dirty="0"/>
            </a:br>
            <a:r>
              <a:rPr lang="fr-FR" dirty="0"/>
              <a:t>➤ Encourager </a:t>
            </a:r>
            <a:r>
              <a:rPr lang="fr-FR" b="1" dirty="0"/>
              <a:t>la parentalité partagée</a:t>
            </a:r>
            <a:r>
              <a:rPr lang="fr-FR" dirty="0"/>
              <a:t>, y compris côté hommes,</a:t>
            </a:r>
            <a:br>
              <a:rPr lang="fr-FR" dirty="0"/>
            </a:br>
            <a:r>
              <a:rPr lang="fr-FR" dirty="0"/>
              <a:t>➤ Continuer à rendre les règles RH </a:t>
            </a:r>
            <a:r>
              <a:rPr lang="fr-FR" b="1" dirty="0"/>
              <a:t>transparentes, mesurables, reproductibles</a:t>
            </a:r>
            <a:r>
              <a:rPr lang="fr-FR" dirty="0"/>
              <a:t>.</a:t>
            </a:r>
          </a:p>
          <a:p>
            <a:endParaRPr lang="fr-FR" dirty="0"/>
          </a:p>
          <a:p>
            <a:r>
              <a:rPr lang="fr-FR" dirty="0"/>
              <a:t>L’idée, ce n’est pas de viser un score parfait sur le papier, mais d’avoir une culture d’entreprise </a:t>
            </a:r>
            <a:r>
              <a:rPr lang="fr-FR" b="1" dirty="0"/>
              <a:t>où les parcours sont vraiment équitables.</a:t>
            </a:r>
            <a:endParaRPr lang="fr-FR" dirty="0"/>
          </a:p>
          <a:p>
            <a:pPr rtl="0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A0D4F93-2A9D-6ED8-62DF-2475DBFC39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fr-FR" smtClean="0"/>
              <a:t>12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310733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r>
              <a:rPr lang="fr-FR" dirty="0"/>
              <a:t>Merci à toutes et tous pour votre attention.</a:t>
            </a:r>
          </a:p>
          <a:p>
            <a:br>
              <a:rPr lang="fr-FR" dirty="0"/>
            </a:br>
            <a:r>
              <a:rPr lang="fr-FR" dirty="0"/>
              <a:t>Ce travail est un point de départ. L’enjeu, maintenant, c’est d’</a:t>
            </a:r>
            <a:r>
              <a:rPr lang="fr-FR" b="1" dirty="0"/>
              <a:t>intégrer ces questions au quotidien</a:t>
            </a:r>
            <a:r>
              <a:rPr lang="fr-FR" dirty="0"/>
              <a:t>, dans nos décisions managériales, nos recrutements, nos évaluations…</a:t>
            </a:r>
          </a:p>
          <a:p>
            <a:endParaRPr lang="fr-FR" dirty="0"/>
          </a:p>
          <a:p>
            <a:r>
              <a:rPr lang="fr-FR" dirty="0"/>
              <a:t>Et surtout, de rester dans une posture d’</a:t>
            </a:r>
            <a:r>
              <a:rPr lang="fr-FR" b="1" dirty="0"/>
              <a:t>écoute, d’amélioration continue</a:t>
            </a:r>
            <a:r>
              <a:rPr lang="fr-FR" dirty="0"/>
              <a:t>, et d’ouverture.</a:t>
            </a:r>
          </a:p>
          <a:p>
            <a:endParaRPr lang="fr-FR" dirty="0"/>
          </a:p>
          <a:p>
            <a:r>
              <a:rPr lang="fr-FR" dirty="0"/>
              <a:t>Si vous avez des idées, des remarques, ou juste envie de contribuer à ces sujets, </a:t>
            </a:r>
            <a:r>
              <a:rPr lang="fr-FR" b="1" dirty="0"/>
              <a:t>je serai ravi d’en discuter avec vous.</a:t>
            </a:r>
            <a:endParaRPr lang="fr-FR" dirty="0"/>
          </a:p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fr-FR" smtClean="0"/>
              <a:t>13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54801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0F864C-44C4-4000-952D-01F31BFB3F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rtlCol="0" anchor="b"/>
          <a:lstStyle>
            <a:lvl1pPr algn="ctr">
              <a:defRPr sz="6000"/>
            </a:lvl1pPr>
          </a:lstStyle>
          <a:p>
            <a:pPr rtl="0"/>
            <a:r>
              <a:rPr lang="fr-FR" noProof="0"/>
              <a:t>Modifiez le style du titre</a:t>
            </a:r>
            <a:endParaRPr lang="fr-FR" noProof="0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1392E06-C914-467E-9D4F-BD763EDA2D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rtlCol="0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fr-FR" noProof="0"/>
              <a:t>Modifiez le style des sous-titres du masque</a:t>
            </a:r>
            <a:endParaRPr lang="fr-FR" noProof="0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FBEFBAF-82E9-49AD-B2CF-7D154E024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54DB4A7-8D14-4CC9-A509-DB9AA358C8AF}" type="datetime1">
              <a:rPr lang="fr-FR" noProof="0" smtClean="0"/>
              <a:t>09/09/2025</a:t>
            </a:fld>
            <a:endParaRPr lang="fr-FR" noProof="0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AD8006A-94B1-44F7-972D-56767EDE3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5E7BFAB-D84B-45E1-A0BD-2516AC14F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fr-FR" noProof="0" smtClean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48564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807FBE-061D-452C-A8A6-213063CFD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  <a:endParaRPr lang="fr-FR" noProof="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33A3535-1708-499D-B5D2-7D8F9FD182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fr-FR" noProof="0"/>
              <a:t>Cliquez pour modifier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  <a:endParaRPr lang="fr-FR" noProof="0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CB06063-A112-49AB-80C8-504D99ECD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D991A0C-4743-4F7E-8E01-F53AE2693A89}" type="datetime1">
              <a:rPr lang="fr-FR" noProof="0" smtClean="0"/>
              <a:t>09/09/2025</a:t>
            </a:fld>
            <a:endParaRPr lang="fr-FR" noProof="0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344C8D5-F898-4318-A76D-1FBD87329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976EC76-E8E8-4FFA-B671-7FA2F3EF5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fr-FR" noProof="0" smtClean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789287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6C2CABF-E3C1-431A-A69C-D4881CC43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rtlCol="0" anchor="b"/>
          <a:lstStyle>
            <a:lvl1pPr>
              <a:defRPr sz="6000"/>
            </a:lvl1pPr>
          </a:lstStyle>
          <a:p>
            <a:pPr rtl="0"/>
            <a:r>
              <a:rPr lang="fr-FR" noProof="0"/>
              <a:t>Modifiez le style du titre</a:t>
            </a:r>
            <a:endParaRPr lang="fr-FR" noProof="0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5584226-69DA-4211-B2C8-C29FD05A4A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 rtlCol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5FF82DB-B518-40FD-8A66-44B874C05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927E34C-608B-4A08-90F1-95C6C86C5B19}" type="datetime1">
              <a:rPr lang="fr-FR" noProof="0" smtClean="0"/>
              <a:t>09/09/2025</a:t>
            </a:fld>
            <a:endParaRPr lang="fr-FR" noProof="0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CC1CCEE-725F-4745-837B-87EFB70E7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561522A-E0E6-406B-BF30-A7C7A5729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fr-FR" noProof="0" smtClean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230041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BCC9BDC-6F21-4EF5-A8DD-E35E27EAC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  <a:endParaRPr lang="fr-FR" noProof="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B968D5F-2AB6-42D3-A54E-AB3E603251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rtlCol="0"/>
          <a:lstStyle/>
          <a:p>
            <a:pPr lvl="0" rtl="0"/>
            <a:r>
              <a:rPr lang="fr-FR" noProof="0"/>
              <a:t>Cliquez pour modifier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  <a:endParaRPr lang="fr-FR" noProof="0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65AB07F-D5F7-402A-AE4E-027BF1CA91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rtlCol="0"/>
          <a:lstStyle/>
          <a:p>
            <a:pPr lvl="0" rtl="0"/>
            <a:r>
              <a:rPr lang="fr-FR" noProof="0"/>
              <a:t>Cliquez pour modifier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  <a:endParaRPr lang="fr-FR" noProof="0" dirty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5108EDC-3863-43B9-93C7-37465DC73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676A242-167A-40D0-BFDA-2D12EF376594}" type="datetime1">
              <a:rPr lang="fr-FR" noProof="0" smtClean="0"/>
              <a:t>09/09/2025</a:t>
            </a:fld>
            <a:endParaRPr lang="fr-FR" noProof="0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777D452-958D-4159-A9A4-16DD29680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89654B6-1460-48B9-AC7E-592F68BAB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fr-FR" noProof="0" smtClean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97404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EE8C848-926A-4FD3-A311-A100A2662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rtlCol="0"/>
          <a:lstStyle/>
          <a:p>
            <a:pPr rtl="0"/>
            <a:r>
              <a:rPr lang="fr-FR" noProof="0"/>
              <a:t>Modifiez le style du titre</a:t>
            </a:r>
            <a:endParaRPr lang="fr-FR" noProof="0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C8ECD90-B4F0-4DFB-BB3D-F231020789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35A6C3A-033E-474B-AB97-D8291A04E7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 rtlCol="0"/>
          <a:lstStyle/>
          <a:p>
            <a:pPr lvl="0" rtl="0"/>
            <a:r>
              <a:rPr lang="fr-FR" noProof="0"/>
              <a:t>Cliquez pour modifier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  <a:endParaRPr lang="fr-FR" noProof="0" dirty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A532B928-3A23-4FCA-AD1F-E45A467B54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3BDC8376-6FC6-4A11-B0DB-9A148E9C00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 rtlCol="0"/>
          <a:lstStyle/>
          <a:p>
            <a:pPr lvl="0" rtl="0"/>
            <a:r>
              <a:rPr lang="fr-FR" noProof="0"/>
              <a:t>Cliquez pour modifier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  <a:endParaRPr lang="fr-FR" noProof="0" dirty="0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E80206F-8846-425C-A56E-16FFBA442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A84EF00-A569-4FB7-995A-B11607547A9B}" type="datetime1">
              <a:rPr lang="fr-FR" noProof="0" smtClean="0"/>
              <a:t>09/09/2025</a:t>
            </a:fld>
            <a:endParaRPr lang="fr-FR" noProof="0" dirty="0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6A45E89F-12CF-4561-A5F2-1E05783A3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EB4DFE4-927C-43B1-A061-5CB97FFB3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fr-FR" noProof="0" smtClean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469058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60E367-8DA0-4655-BCBC-F4280D864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  <a:endParaRPr lang="fr-FR" noProof="0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FEF9592-AA3C-4CF8-A5DB-4D010195A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88C3D5E-EEC3-4DDB-AD23-D7DD6766F555}" type="datetime1">
              <a:rPr lang="fr-FR" noProof="0" smtClean="0"/>
              <a:t>09/09/2025</a:t>
            </a:fld>
            <a:endParaRPr lang="fr-FR" noProof="0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C2C9377-F93E-4515-852A-264707755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AED076D-476B-42BA-8795-14FE6C1E6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fr-FR" noProof="0" smtClean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625551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EA599B4-6AB2-4190-82B5-7667EE1E9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2447736-0A2B-4B2B-898A-072BCA57540C}" type="datetime1">
              <a:rPr lang="fr-FR" noProof="0" smtClean="0"/>
              <a:t>09/09/2025</a:t>
            </a:fld>
            <a:endParaRPr lang="fr-FR" noProof="0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B8FBFB3-AD86-4E39-B8AE-B4EC14528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9A4AF55-C114-4B60-9A20-56B00A11B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fr-FR" noProof="0" smtClean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058200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883DA1-5CB8-405D-9613-8A9B7BC56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fr-FR" noProof="0"/>
              <a:t>Modifiez le style du titre</a:t>
            </a:r>
            <a:endParaRPr lang="fr-FR" noProof="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842BB15-A24D-42E9-9CAE-BB82722630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fr-FR" noProof="0"/>
              <a:t>Cliquez pour modifier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  <a:endParaRPr lang="fr-FR" noProof="0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8F0849D-D3C3-462A-9751-4EAB0B914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180DD20-7A20-4574-98A4-427795876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62CBD0E-DC89-49E7-B202-CBE9258BCD99}" type="datetime1">
              <a:rPr lang="fr-FR" noProof="0" smtClean="0"/>
              <a:t>09/09/2025</a:t>
            </a:fld>
            <a:endParaRPr lang="fr-FR" noProof="0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4D0ED2B-71C4-421A-9DB0-676E00C10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8C4572A-ADFC-4C53-BCA2-42BDF693B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fr-FR" noProof="0" smtClean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230950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8F5C67-EEEC-4AB0-9653-0F80D6B10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fr-FR" noProof="0"/>
              <a:t>Modifiez le style du titre</a:t>
            </a:r>
            <a:endParaRPr lang="fr-FR" noProof="0" dirty="0"/>
          </a:p>
        </p:txBody>
      </p:sp>
      <p:sp>
        <p:nvSpPr>
          <p:cNvPr id="3" name="Espace réservé d’image 2">
            <a:extLst>
              <a:ext uri="{FF2B5EF4-FFF2-40B4-BE49-F238E27FC236}">
                <a16:creationId xmlns:a16="http://schemas.microsoft.com/office/drawing/2014/main" id="{1DD50D6D-5277-4324-AF23-5FAF007834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5275657-2BF9-4761-96B6-50EE3CFCFA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C3C3F7B-A4C8-4F9D-8165-BC5186EA0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E7A808B-2C23-4B05-AFB5-65D277FE4DAC}" type="datetime1">
              <a:rPr lang="fr-FR" noProof="0" smtClean="0"/>
              <a:t>09/09/2025</a:t>
            </a:fld>
            <a:endParaRPr lang="fr-FR" noProof="0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E696EA5-2FA2-464D-982F-C53E6426A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911B398-191B-4AB1-86ED-00D0046EA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fr-FR" noProof="0" smtClean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586601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5F7B869-BFB2-4C20-8AB1-46704BB3D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  <a:endParaRPr lang="fr-FR" noProof="0" dirty="0"/>
          </a:p>
        </p:txBody>
      </p:sp>
      <p:sp>
        <p:nvSpPr>
          <p:cNvPr id="3" name="Espace réservé du texte vertical 2">
            <a:extLst>
              <a:ext uri="{FF2B5EF4-FFF2-40B4-BE49-F238E27FC236}">
                <a16:creationId xmlns:a16="http://schemas.microsoft.com/office/drawing/2014/main" id="{19F007DB-4F12-4428-9C48-5120DF0704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fr-FR" noProof="0"/>
              <a:t>Cliquez pour modifier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  <a:endParaRPr lang="fr-FR" noProof="0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6FFA8DA-0E31-4CA6-BBFC-2467AAD1D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886E1C4-4B71-4681-A2FC-3FFA2A832576}" type="datetime1">
              <a:rPr lang="fr-FR" noProof="0" smtClean="0"/>
              <a:t>09/09/2025</a:t>
            </a:fld>
            <a:endParaRPr lang="fr-FR" noProof="0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64974BD-9845-459A-9AAA-12731E250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2A71B0A-FDFB-4B2C-A9EC-2334C5900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fr-FR" noProof="0" smtClean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931409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 1">
            <a:extLst>
              <a:ext uri="{FF2B5EF4-FFF2-40B4-BE49-F238E27FC236}">
                <a16:creationId xmlns:a16="http://schemas.microsoft.com/office/drawing/2014/main" id="{E60B5D73-1652-4A8E-B5A3-101523D729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 rtlCol="0"/>
          <a:lstStyle/>
          <a:p>
            <a:pPr rtl="0"/>
            <a:r>
              <a:rPr lang="fr-FR" noProof="0"/>
              <a:t>Modifiez le style du titre</a:t>
            </a:r>
            <a:endParaRPr lang="fr-FR" noProof="0" dirty="0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9B7FB99-7425-444D-B602-01B672BCE8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 rtlCol="0"/>
          <a:lstStyle/>
          <a:p>
            <a:pPr lvl="0" rtl="0"/>
            <a:r>
              <a:rPr lang="fr-FR" noProof="0"/>
              <a:t>Cliquez pour modifier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  <a:endParaRPr lang="fr-FR" noProof="0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EEA9C5-552A-48A1-AB54-ED54209B3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44A6C4E-254C-481E-B809-300CD8E95E42}" type="datetime1">
              <a:rPr lang="fr-FR" noProof="0" smtClean="0"/>
              <a:t>09/09/2025</a:t>
            </a:fld>
            <a:endParaRPr lang="fr-FR" noProof="0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A83AAA3-4155-48FB-8F00-16DBE0C9C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D694EAE-CB3C-4DEF-A66D-583C7AAC9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fr-FR" noProof="0" smtClean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746804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 1">
            <a:extLst>
              <a:ext uri="{FF2B5EF4-FFF2-40B4-BE49-F238E27FC236}">
                <a16:creationId xmlns:a16="http://schemas.microsoft.com/office/drawing/2014/main" id="{7B3445CA-54C1-4DDE-A216-DD2414E3F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fr-FR" noProof="0" dirty="0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306395A-6879-4E93-B24E-067F88AC1D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fr-FR" noProof="0" dirty="0"/>
              <a:t>Modifiez les styles du texte du masque</a:t>
            </a:r>
          </a:p>
          <a:p>
            <a:pPr lvl="1" rtl="0"/>
            <a:r>
              <a:rPr lang="fr-FR" noProof="0" dirty="0"/>
              <a:t>Deuxième niveau</a:t>
            </a:r>
          </a:p>
          <a:p>
            <a:pPr lvl="2" rtl="0"/>
            <a:r>
              <a:rPr lang="fr-FR" noProof="0" dirty="0"/>
              <a:t>Troisième niveau</a:t>
            </a:r>
          </a:p>
          <a:p>
            <a:pPr lvl="3" rtl="0"/>
            <a:r>
              <a:rPr lang="fr-FR" noProof="0" dirty="0"/>
              <a:t>Quatrième niveau</a:t>
            </a:r>
          </a:p>
          <a:p>
            <a:pPr lvl="4" rtl="0"/>
            <a:r>
              <a:rPr lang="fr-FR" noProof="0" dirty="0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450FF5B-A6A6-4F0F-AA5D-3F0F69A43A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6A45877A-693B-42AF-A53D-BF4883E3222C}" type="datetime1">
              <a:rPr lang="fr-FR" noProof="0" smtClean="0"/>
              <a:t>09/09/2025</a:t>
            </a:fld>
            <a:endParaRPr lang="fr-FR" noProof="0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A798FAA-76CC-42EF-8BE0-466A41BBAB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fr-FR" noProof="0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149FF02-6890-4E10-B958-1097AD32C6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06FEDF93-2BFD-41CA-ABC7-B039102F3792}" type="slidenum">
              <a:rPr lang="fr-FR" noProof="0" smtClean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603789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accent3">
              <a:lumMod val="75000"/>
            </a:schemeClr>
          </a:fgClr>
          <a:bgClr>
            <a:schemeClr val="accent3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300AEF-1595-4419-801B-6E36A33BB8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376036"/>
            <a:ext cx="9144000" cy="1384995"/>
          </a:xfrm>
        </p:spPr>
        <p:txBody>
          <a:bodyPr lIns="0" tIns="0" rIns="0" bIns="0" rtlCol="0" anchor="t">
            <a:spAutoFit/>
          </a:bodyPr>
          <a:lstStyle/>
          <a:p>
            <a:pPr rtl="0"/>
            <a:r>
              <a:rPr lang="fr-FR" b="1" dirty="0">
                <a:solidFill>
                  <a:schemeClr val="bg1"/>
                </a:solidFill>
              </a:rPr>
              <a:t>Diagnostic égalité F/H</a:t>
            </a:r>
            <a:br>
              <a:rPr lang="fr-FR" dirty="0">
                <a:solidFill>
                  <a:schemeClr val="bg1"/>
                </a:solidFill>
              </a:rPr>
            </a:br>
            <a:r>
              <a:rPr lang="fr-FR" sz="4000" dirty="0">
                <a:solidFill>
                  <a:schemeClr val="accent4"/>
                </a:solidFill>
              </a:rPr>
              <a:t>Construisons un avenir plus juste</a:t>
            </a:r>
            <a:endParaRPr lang="fr-FR" dirty="0">
              <a:solidFill>
                <a:schemeClr val="accent4"/>
              </a:solidFill>
            </a:endParaRPr>
          </a:p>
        </p:txBody>
      </p:sp>
      <p:sp>
        <p:nvSpPr>
          <p:cNvPr id="4" name="Losange 3">
            <a:extLst>
              <a:ext uri="{FF2B5EF4-FFF2-40B4-BE49-F238E27FC236}">
                <a16:creationId xmlns:a16="http://schemas.microsoft.com/office/drawing/2014/main" id="{1C59176D-59A8-4C02-B448-EE01232FB3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92319" y="-608242"/>
            <a:ext cx="2607364" cy="2607364"/>
          </a:xfrm>
          <a:prstGeom prst="diamond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dirty="0"/>
          </a:p>
        </p:txBody>
      </p:sp>
      <p:sp>
        <p:nvSpPr>
          <p:cNvPr id="5" name="Losange 4">
            <a:extLst>
              <a:ext uri="{FF2B5EF4-FFF2-40B4-BE49-F238E27FC236}">
                <a16:creationId xmlns:a16="http://schemas.microsoft.com/office/drawing/2014/main" id="{A50B1817-3C7F-41BC-8557-7A00C928EE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25258" y="-1770743"/>
            <a:ext cx="3541486" cy="3541486"/>
          </a:xfrm>
          <a:prstGeom prst="diamond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dirty="0"/>
          </a:p>
        </p:txBody>
      </p:sp>
      <p:grpSp>
        <p:nvGrpSpPr>
          <p:cNvPr id="7" name="Groupe 6" descr="Icône de graphique ">
            <a:extLst>
              <a:ext uri="{FF2B5EF4-FFF2-40B4-BE49-F238E27FC236}">
                <a16:creationId xmlns:a16="http://schemas.microsoft.com/office/drawing/2014/main" id="{B95DF07A-CE7E-4D89-9AA0-25F4FFF3B9C7}"/>
              </a:ext>
            </a:extLst>
          </p:cNvPr>
          <p:cNvGrpSpPr/>
          <p:nvPr/>
        </p:nvGrpSpPr>
        <p:grpSpPr>
          <a:xfrm>
            <a:off x="5851021" y="3429000"/>
            <a:ext cx="489958" cy="492680"/>
            <a:chOff x="2025650" y="4786313"/>
            <a:chExt cx="285750" cy="287338"/>
          </a:xfrm>
          <a:solidFill>
            <a:schemeClr val="bg1"/>
          </a:solidFill>
        </p:grpSpPr>
        <p:sp>
          <p:nvSpPr>
            <p:cNvPr id="8" name="Forme libre 565">
              <a:extLst>
                <a:ext uri="{FF2B5EF4-FFF2-40B4-BE49-F238E27FC236}">
                  <a16:creationId xmlns:a16="http://schemas.microsoft.com/office/drawing/2014/main" id="{548FC78B-EF83-4185-A63D-1A5A85640B6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25650" y="4786313"/>
              <a:ext cx="285750" cy="287338"/>
            </a:xfrm>
            <a:custGeom>
              <a:avLst/>
              <a:gdLst>
                <a:gd name="T0" fmla="*/ 812 w 903"/>
                <a:gd name="T1" fmla="*/ 500 h 903"/>
                <a:gd name="T2" fmla="*/ 810 w 903"/>
                <a:gd name="T3" fmla="*/ 505 h 903"/>
                <a:gd name="T4" fmla="*/ 806 w 903"/>
                <a:gd name="T5" fmla="*/ 509 h 903"/>
                <a:gd name="T6" fmla="*/ 800 w 903"/>
                <a:gd name="T7" fmla="*/ 511 h 903"/>
                <a:gd name="T8" fmla="*/ 105 w 903"/>
                <a:gd name="T9" fmla="*/ 511 h 903"/>
                <a:gd name="T10" fmla="*/ 99 w 903"/>
                <a:gd name="T11" fmla="*/ 510 h 903"/>
                <a:gd name="T12" fmla="*/ 95 w 903"/>
                <a:gd name="T13" fmla="*/ 507 h 903"/>
                <a:gd name="T14" fmla="*/ 92 w 903"/>
                <a:gd name="T15" fmla="*/ 502 h 903"/>
                <a:gd name="T16" fmla="*/ 90 w 903"/>
                <a:gd name="T17" fmla="*/ 496 h 903"/>
                <a:gd name="T18" fmla="*/ 90 w 903"/>
                <a:gd name="T19" fmla="*/ 105 h 903"/>
                <a:gd name="T20" fmla="*/ 92 w 903"/>
                <a:gd name="T21" fmla="*/ 100 h 903"/>
                <a:gd name="T22" fmla="*/ 95 w 903"/>
                <a:gd name="T23" fmla="*/ 94 h 903"/>
                <a:gd name="T24" fmla="*/ 99 w 903"/>
                <a:gd name="T25" fmla="*/ 91 h 903"/>
                <a:gd name="T26" fmla="*/ 105 w 903"/>
                <a:gd name="T27" fmla="*/ 90 h 903"/>
                <a:gd name="T28" fmla="*/ 800 w 903"/>
                <a:gd name="T29" fmla="*/ 90 h 903"/>
                <a:gd name="T30" fmla="*/ 806 w 903"/>
                <a:gd name="T31" fmla="*/ 92 h 903"/>
                <a:gd name="T32" fmla="*/ 810 w 903"/>
                <a:gd name="T33" fmla="*/ 96 h 903"/>
                <a:gd name="T34" fmla="*/ 812 w 903"/>
                <a:gd name="T35" fmla="*/ 102 h 903"/>
                <a:gd name="T36" fmla="*/ 813 w 903"/>
                <a:gd name="T37" fmla="*/ 496 h 903"/>
                <a:gd name="T38" fmla="*/ 15 w 903"/>
                <a:gd name="T39" fmla="*/ 0 h 903"/>
                <a:gd name="T40" fmla="*/ 9 w 903"/>
                <a:gd name="T41" fmla="*/ 1 h 903"/>
                <a:gd name="T42" fmla="*/ 5 w 903"/>
                <a:gd name="T43" fmla="*/ 4 h 903"/>
                <a:gd name="T44" fmla="*/ 1 w 903"/>
                <a:gd name="T45" fmla="*/ 8 h 903"/>
                <a:gd name="T46" fmla="*/ 0 w 903"/>
                <a:gd name="T47" fmla="*/ 15 h 903"/>
                <a:gd name="T48" fmla="*/ 0 w 903"/>
                <a:gd name="T49" fmla="*/ 590 h 903"/>
                <a:gd name="T50" fmla="*/ 2 w 903"/>
                <a:gd name="T51" fmla="*/ 595 h 903"/>
                <a:gd name="T52" fmla="*/ 7 w 903"/>
                <a:gd name="T53" fmla="*/ 599 h 903"/>
                <a:gd name="T54" fmla="*/ 12 w 903"/>
                <a:gd name="T55" fmla="*/ 602 h 903"/>
                <a:gd name="T56" fmla="*/ 437 w 903"/>
                <a:gd name="T57" fmla="*/ 602 h 903"/>
                <a:gd name="T58" fmla="*/ 260 w 903"/>
                <a:gd name="T59" fmla="*/ 877 h 903"/>
                <a:gd name="T60" fmla="*/ 257 w 903"/>
                <a:gd name="T61" fmla="*/ 883 h 903"/>
                <a:gd name="T62" fmla="*/ 256 w 903"/>
                <a:gd name="T63" fmla="*/ 888 h 903"/>
                <a:gd name="T64" fmla="*/ 257 w 903"/>
                <a:gd name="T65" fmla="*/ 893 h 903"/>
                <a:gd name="T66" fmla="*/ 260 w 903"/>
                <a:gd name="T67" fmla="*/ 899 h 903"/>
                <a:gd name="T68" fmla="*/ 265 w 903"/>
                <a:gd name="T69" fmla="*/ 902 h 903"/>
                <a:gd name="T70" fmla="*/ 271 w 903"/>
                <a:gd name="T71" fmla="*/ 903 h 903"/>
                <a:gd name="T72" fmla="*/ 277 w 903"/>
                <a:gd name="T73" fmla="*/ 902 h 903"/>
                <a:gd name="T74" fmla="*/ 281 w 903"/>
                <a:gd name="T75" fmla="*/ 899 h 903"/>
                <a:gd name="T76" fmla="*/ 621 w 903"/>
                <a:gd name="T77" fmla="*/ 899 h 903"/>
                <a:gd name="T78" fmla="*/ 627 w 903"/>
                <a:gd name="T79" fmla="*/ 902 h 903"/>
                <a:gd name="T80" fmla="*/ 632 w 903"/>
                <a:gd name="T81" fmla="*/ 903 h 903"/>
                <a:gd name="T82" fmla="*/ 637 w 903"/>
                <a:gd name="T83" fmla="*/ 902 h 903"/>
                <a:gd name="T84" fmla="*/ 643 w 903"/>
                <a:gd name="T85" fmla="*/ 899 h 903"/>
                <a:gd name="T86" fmla="*/ 646 w 903"/>
                <a:gd name="T87" fmla="*/ 893 h 903"/>
                <a:gd name="T88" fmla="*/ 647 w 903"/>
                <a:gd name="T89" fmla="*/ 888 h 903"/>
                <a:gd name="T90" fmla="*/ 646 w 903"/>
                <a:gd name="T91" fmla="*/ 883 h 903"/>
                <a:gd name="T92" fmla="*/ 643 w 903"/>
                <a:gd name="T93" fmla="*/ 877 h 903"/>
                <a:gd name="T94" fmla="*/ 467 w 903"/>
                <a:gd name="T95" fmla="*/ 602 h 903"/>
                <a:gd name="T96" fmla="*/ 892 w 903"/>
                <a:gd name="T97" fmla="*/ 602 h 903"/>
                <a:gd name="T98" fmla="*/ 897 w 903"/>
                <a:gd name="T99" fmla="*/ 599 h 903"/>
                <a:gd name="T100" fmla="*/ 900 w 903"/>
                <a:gd name="T101" fmla="*/ 595 h 903"/>
                <a:gd name="T102" fmla="*/ 902 w 903"/>
                <a:gd name="T103" fmla="*/ 590 h 903"/>
                <a:gd name="T104" fmla="*/ 903 w 903"/>
                <a:gd name="T105" fmla="*/ 15 h 903"/>
                <a:gd name="T106" fmla="*/ 902 w 903"/>
                <a:gd name="T107" fmla="*/ 8 h 903"/>
                <a:gd name="T108" fmla="*/ 899 w 903"/>
                <a:gd name="T109" fmla="*/ 4 h 903"/>
                <a:gd name="T110" fmla="*/ 894 w 903"/>
                <a:gd name="T111" fmla="*/ 1 h 903"/>
                <a:gd name="T112" fmla="*/ 888 w 903"/>
                <a:gd name="T113" fmla="*/ 0 h 9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903" h="903">
                  <a:moveTo>
                    <a:pt x="813" y="496"/>
                  </a:moveTo>
                  <a:lnTo>
                    <a:pt x="812" y="500"/>
                  </a:lnTo>
                  <a:lnTo>
                    <a:pt x="811" y="502"/>
                  </a:lnTo>
                  <a:lnTo>
                    <a:pt x="810" y="505"/>
                  </a:lnTo>
                  <a:lnTo>
                    <a:pt x="808" y="507"/>
                  </a:lnTo>
                  <a:lnTo>
                    <a:pt x="806" y="509"/>
                  </a:lnTo>
                  <a:lnTo>
                    <a:pt x="804" y="510"/>
                  </a:lnTo>
                  <a:lnTo>
                    <a:pt x="800" y="511"/>
                  </a:lnTo>
                  <a:lnTo>
                    <a:pt x="797" y="511"/>
                  </a:lnTo>
                  <a:lnTo>
                    <a:pt x="105" y="511"/>
                  </a:lnTo>
                  <a:lnTo>
                    <a:pt x="102" y="511"/>
                  </a:lnTo>
                  <a:lnTo>
                    <a:pt x="99" y="510"/>
                  </a:lnTo>
                  <a:lnTo>
                    <a:pt x="97" y="509"/>
                  </a:lnTo>
                  <a:lnTo>
                    <a:pt x="95" y="507"/>
                  </a:lnTo>
                  <a:lnTo>
                    <a:pt x="93" y="505"/>
                  </a:lnTo>
                  <a:lnTo>
                    <a:pt x="92" y="502"/>
                  </a:lnTo>
                  <a:lnTo>
                    <a:pt x="90" y="500"/>
                  </a:lnTo>
                  <a:lnTo>
                    <a:pt x="90" y="496"/>
                  </a:lnTo>
                  <a:lnTo>
                    <a:pt x="90" y="316"/>
                  </a:lnTo>
                  <a:lnTo>
                    <a:pt x="90" y="105"/>
                  </a:lnTo>
                  <a:lnTo>
                    <a:pt x="90" y="102"/>
                  </a:lnTo>
                  <a:lnTo>
                    <a:pt x="92" y="100"/>
                  </a:lnTo>
                  <a:lnTo>
                    <a:pt x="93" y="96"/>
                  </a:lnTo>
                  <a:lnTo>
                    <a:pt x="95" y="94"/>
                  </a:lnTo>
                  <a:lnTo>
                    <a:pt x="97" y="92"/>
                  </a:lnTo>
                  <a:lnTo>
                    <a:pt x="99" y="91"/>
                  </a:lnTo>
                  <a:lnTo>
                    <a:pt x="102" y="90"/>
                  </a:lnTo>
                  <a:lnTo>
                    <a:pt x="105" y="90"/>
                  </a:lnTo>
                  <a:lnTo>
                    <a:pt x="798" y="90"/>
                  </a:lnTo>
                  <a:lnTo>
                    <a:pt x="800" y="90"/>
                  </a:lnTo>
                  <a:lnTo>
                    <a:pt x="804" y="91"/>
                  </a:lnTo>
                  <a:lnTo>
                    <a:pt x="806" y="92"/>
                  </a:lnTo>
                  <a:lnTo>
                    <a:pt x="808" y="94"/>
                  </a:lnTo>
                  <a:lnTo>
                    <a:pt x="810" y="96"/>
                  </a:lnTo>
                  <a:lnTo>
                    <a:pt x="811" y="100"/>
                  </a:lnTo>
                  <a:lnTo>
                    <a:pt x="812" y="102"/>
                  </a:lnTo>
                  <a:lnTo>
                    <a:pt x="813" y="105"/>
                  </a:lnTo>
                  <a:lnTo>
                    <a:pt x="813" y="496"/>
                  </a:lnTo>
                  <a:close/>
                  <a:moveTo>
                    <a:pt x="888" y="0"/>
                  </a:moveTo>
                  <a:lnTo>
                    <a:pt x="15" y="0"/>
                  </a:lnTo>
                  <a:lnTo>
                    <a:pt x="12" y="0"/>
                  </a:lnTo>
                  <a:lnTo>
                    <a:pt x="9" y="1"/>
                  </a:lnTo>
                  <a:lnTo>
                    <a:pt x="7" y="2"/>
                  </a:lnTo>
                  <a:lnTo>
                    <a:pt x="5" y="4"/>
                  </a:lnTo>
                  <a:lnTo>
                    <a:pt x="2" y="6"/>
                  </a:lnTo>
                  <a:lnTo>
                    <a:pt x="1" y="8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587"/>
                  </a:lnTo>
                  <a:lnTo>
                    <a:pt x="0" y="590"/>
                  </a:lnTo>
                  <a:lnTo>
                    <a:pt x="1" y="593"/>
                  </a:lnTo>
                  <a:lnTo>
                    <a:pt x="2" y="595"/>
                  </a:lnTo>
                  <a:lnTo>
                    <a:pt x="5" y="597"/>
                  </a:lnTo>
                  <a:lnTo>
                    <a:pt x="7" y="599"/>
                  </a:lnTo>
                  <a:lnTo>
                    <a:pt x="9" y="601"/>
                  </a:lnTo>
                  <a:lnTo>
                    <a:pt x="12" y="602"/>
                  </a:lnTo>
                  <a:lnTo>
                    <a:pt x="15" y="602"/>
                  </a:lnTo>
                  <a:lnTo>
                    <a:pt x="437" y="602"/>
                  </a:lnTo>
                  <a:lnTo>
                    <a:pt x="437" y="701"/>
                  </a:lnTo>
                  <a:lnTo>
                    <a:pt x="260" y="877"/>
                  </a:lnTo>
                  <a:lnTo>
                    <a:pt x="259" y="879"/>
                  </a:lnTo>
                  <a:lnTo>
                    <a:pt x="257" y="883"/>
                  </a:lnTo>
                  <a:lnTo>
                    <a:pt x="256" y="885"/>
                  </a:lnTo>
                  <a:lnTo>
                    <a:pt x="256" y="888"/>
                  </a:lnTo>
                  <a:lnTo>
                    <a:pt x="256" y="891"/>
                  </a:lnTo>
                  <a:lnTo>
                    <a:pt x="257" y="893"/>
                  </a:lnTo>
                  <a:lnTo>
                    <a:pt x="259" y="897"/>
                  </a:lnTo>
                  <a:lnTo>
                    <a:pt x="260" y="899"/>
                  </a:lnTo>
                  <a:lnTo>
                    <a:pt x="263" y="901"/>
                  </a:lnTo>
                  <a:lnTo>
                    <a:pt x="265" y="902"/>
                  </a:lnTo>
                  <a:lnTo>
                    <a:pt x="268" y="903"/>
                  </a:lnTo>
                  <a:lnTo>
                    <a:pt x="271" y="903"/>
                  </a:lnTo>
                  <a:lnTo>
                    <a:pt x="274" y="903"/>
                  </a:lnTo>
                  <a:lnTo>
                    <a:pt x="277" y="902"/>
                  </a:lnTo>
                  <a:lnTo>
                    <a:pt x="279" y="901"/>
                  </a:lnTo>
                  <a:lnTo>
                    <a:pt x="281" y="899"/>
                  </a:lnTo>
                  <a:lnTo>
                    <a:pt x="452" y="728"/>
                  </a:lnTo>
                  <a:lnTo>
                    <a:pt x="621" y="899"/>
                  </a:lnTo>
                  <a:lnTo>
                    <a:pt x="623" y="901"/>
                  </a:lnTo>
                  <a:lnTo>
                    <a:pt x="627" y="902"/>
                  </a:lnTo>
                  <a:lnTo>
                    <a:pt x="629" y="903"/>
                  </a:lnTo>
                  <a:lnTo>
                    <a:pt x="632" y="903"/>
                  </a:lnTo>
                  <a:lnTo>
                    <a:pt x="635" y="903"/>
                  </a:lnTo>
                  <a:lnTo>
                    <a:pt x="637" y="902"/>
                  </a:lnTo>
                  <a:lnTo>
                    <a:pt x="641" y="901"/>
                  </a:lnTo>
                  <a:lnTo>
                    <a:pt x="643" y="899"/>
                  </a:lnTo>
                  <a:lnTo>
                    <a:pt x="645" y="897"/>
                  </a:lnTo>
                  <a:lnTo>
                    <a:pt x="646" y="893"/>
                  </a:lnTo>
                  <a:lnTo>
                    <a:pt x="647" y="891"/>
                  </a:lnTo>
                  <a:lnTo>
                    <a:pt x="647" y="888"/>
                  </a:lnTo>
                  <a:lnTo>
                    <a:pt x="647" y="885"/>
                  </a:lnTo>
                  <a:lnTo>
                    <a:pt x="646" y="883"/>
                  </a:lnTo>
                  <a:lnTo>
                    <a:pt x="645" y="879"/>
                  </a:lnTo>
                  <a:lnTo>
                    <a:pt x="643" y="877"/>
                  </a:lnTo>
                  <a:lnTo>
                    <a:pt x="467" y="701"/>
                  </a:lnTo>
                  <a:lnTo>
                    <a:pt x="467" y="602"/>
                  </a:lnTo>
                  <a:lnTo>
                    <a:pt x="888" y="602"/>
                  </a:lnTo>
                  <a:lnTo>
                    <a:pt x="892" y="602"/>
                  </a:lnTo>
                  <a:lnTo>
                    <a:pt x="894" y="601"/>
                  </a:lnTo>
                  <a:lnTo>
                    <a:pt x="897" y="599"/>
                  </a:lnTo>
                  <a:lnTo>
                    <a:pt x="899" y="597"/>
                  </a:lnTo>
                  <a:lnTo>
                    <a:pt x="900" y="595"/>
                  </a:lnTo>
                  <a:lnTo>
                    <a:pt x="902" y="593"/>
                  </a:lnTo>
                  <a:lnTo>
                    <a:pt x="902" y="590"/>
                  </a:lnTo>
                  <a:lnTo>
                    <a:pt x="903" y="587"/>
                  </a:lnTo>
                  <a:lnTo>
                    <a:pt x="903" y="15"/>
                  </a:lnTo>
                  <a:lnTo>
                    <a:pt x="902" y="12"/>
                  </a:lnTo>
                  <a:lnTo>
                    <a:pt x="902" y="8"/>
                  </a:lnTo>
                  <a:lnTo>
                    <a:pt x="900" y="6"/>
                  </a:lnTo>
                  <a:lnTo>
                    <a:pt x="899" y="4"/>
                  </a:lnTo>
                  <a:lnTo>
                    <a:pt x="897" y="2"/>
                  </a:lnTo>
                  <a:lnTo>
                    <a:pt x="894" y="1"/>
                  </a:lnTo>
                  <a:lnTo>
                    <a:pt x="892" y="0"/>
                  </a:lnTo>
                  <a:lnTo>
                    <a:pt x="88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9" name="Forme libre 566">
              <a:extLst>
                <a:ext uri="{FF2B5EF4-FFF2-40B4-BE49-F238E27FC236}">
                  <a16:creationId xmlns:a16="http://schemas.microsoft.com/office/drawing/2014/main" id="{B7B50F87-A3AA-4FB6-9692-24BF5512FC5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4225" y="4843463"/>
              <a:ext cx="200025" cy="73025"/>
            </a:xfrm>
            <a:custGeom>
              <a:avLst/>
              <a:gdLst>
                <a:gd name="T0" fmla="*/ 151 w 632"/>
                <a:gd name="T1" fmla="*/ 151 h 226"/>
                <a:gd name="T2" fmla="*/ 157 w 632"/>
                <a:gd name="T3" fmla="*/ 149 h 226"/>
                <a:gd name="T4" fmla="*/ 161 w 632"/>
                <a:gd name="T5" fmla="*/ 146 h 226"/>
                <a:gd name="T6" fmla="*/ 288 w 632"/>
                <a:gd name="T7" fmla="*/ 217 h 226"/>
                <a:gd name="T8" fmla="*/ 292 w 632"/>
                <a:gd name="T9" fmla="*/ 223 h 226"/>
                <a:gd name="T10" fmla="*/ 299 w 632"/>
                <a:gd name="T11" fmla="*/ 226 h 226"/>
                <a:gd name="T12" fmla="*/ 302 w 632"/>
                <a:gd name="T13" fmla="*/ 226 h 226"/>
                <a:gd name="T14" fmla="*/ 307 w 632"/>
                <a:gd name="T15" fmla="*/ 225 h 226"/>
                <a:gd name="T16" fmla="*/ 313 w 632"/>
                <a:gd name="T17" fmla="*/ 222 h 226"/>
                <a:gd name="T18" fmla="*/ 471 w 632"/>
                <a:gd name="T19" fmla="*/ 191 h 226"/>
                <a:gd name="T20" fmla="*/ 477 w 632"/>
                <a:gd name="T21" fmla="*/ 195 h 226"/>
                <a:gd name="T22" fmla="*/ 483 w 632"/>
                <a:gd name="T23" fmla="*/ 196 h 226"/>
                <a:gd name="T24" fmla="*/ 488 w 632"/>
                <a:gd name="T25" fmla="*/ 194 h 226"/>
                <a:gd name="T26" fmla="*/ 494 w 632"/>
                <a:gd name="T27" fmla="*/ 191 h 226"/>
                <a:gd name="T28" fmla="*/ 631 w 632"/>
                <a:gd name="T29" fmla="*/ 23 h 226"/>
                <a:gd name="T30" fmla="*/ 632 w 632"/>
                <a:gd name="T31" fmla="*/ 16 h 226"/>
                <a:gd name="T32" fmla="*/ 632 w 632"/>
                <a:gd name="T33" fmla="*/ 11 h 226"/>
                <a:gd name="T34" fmla="*/ 629 w 632"/>
                <a:gd name="T35" fmla="*/ 5 h 226"/>
                <a:gd name="T36" fmla="*/ 625 w 632"/>
                <a:gd name="T37" fmla="*/ 2 h 226"/>
                <a:gd name="T38" fmla="*/ 619 w 632"/>
                <a:gd name="T39" fmla="*/ 0 h 226"/>
                <a:gd name="T40" fmla="*/ 613 w 632"/>
                <a:gd name="T41" fmla="*/ 1 h 226"/>
                <a:gd name="T42" fmla="*/ 607 w 632"/>
                <a:gd name="T43" fmla="*/ 3 h 226"/>
                <a:gd name="T44" fmla="*/ 481 w 632"/>
                <a:gd name="T45" fmla="*/ 159 h 226"/>
                <a:gd name="T46" fmla="*/ 415 w 632"/>
                <a:gd name="T47" fmla="*/ 93 h 226"/>
                <a:gd name="T48" fmla="*/ 409 w 632"/>
                <a:gd name="T49" fmla="*/ 91 h 226"/>
                <a:gd name="T50" fmla="*/ 404 w 632"/>
                <a:gd name="T51" fmla="*/ 91 h 226"/>
                <a:gd name="T52" fmla="*/ 398 w 632"/>
                <a:gd name="T53" fmla="*/ 93 h 226"/>
                <a:gd name="T54" fmla="*/ 307 w 632"/>
                <a:gd name="T55" fmla="*/ 185 h 226"/>
                <a:gd name="T56" fmla="*/ 247 w 632"/>
                <a:gd name="T57" fmla="*/ 39 h 226"/>
                <a:gd name="T58" fmla="*/ 242 w 632"/>
                <a:gd name="T59" fmla="*/ 34 h 226"/>
                <a:gd name="T60" fmla="*/ 234 w 632"/>
                <a:gd name="T61" fmla="*/ 33 h 226"/>
                <a:gd name="T62" fmla="*/ 227 w 632"/>
                <a:gd name="T63" fmla="*/ 35 h 226"/>
                <a:gd name="T64" fmla="*/ 144 w 632"/>
                <a:gd name="T65" fmla="*/ 121 h 226"/>
                <a:gd name="T66" fmla="*/ 12 w 632"/>
                <a:gd name="T67" fmla="*/ 121 h 226"/>
                <a:gd name="T68" fmla="*/ 7 w 632"/>
                <a:gd name="T69" fmla="*/ 123 h 226"/>
                <a:gd name="T70" fmla="*/ 3 w 632"/>
                <a:gd name="T71" fmla="*/ 128 h 226"/>
                <a:gd name="T72" fmla="*/ 0 w 632"/>
                <a:gd name="T73" fmla="*/ 133 h 226"/>
                <a:gd name="T74" fmla="*/ 0 w 632"/>
                <a:gd name="T75" fmla="*/ 138 h 226"/>
                <a:gd name="T76" fmla="*/ 3 w 632"/>
                <a:gd name="T77" fmla="*/ 144 h 226"/>
                <a:gd name="T78" fmla="*/ 7 w 632"/>
                <a:gd name="T79" fmla="*/ 148 h 226"/>
                <a:gd name="T80" fmla="*/ 12 w 632"/>
                <a:gd name="T81" fmla="*/ 150 h 226"/>
                <a:gd name="T82" fmla="*/ 15 w 632"/>
                <a:gd name="T83" fmla="*/ 15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632" h="226">
                  <a:moveTo>
                    <a:pt x="15" y="151"/>
                  </a:moveTo>
                  <a:lnTo>
                    <a:pt x="151" y="151"/>
                  </a:lnTo>
                  <a:lnTo>
                    <a:pt x="154" y="150"/>
                  </a:lnTo>
                  <a:lnTo>
                    <a:pt x="157" y="149"/>
                  </a:lnTo>
                  <a:lnTo>
                    <a:pt x="159" y="148"/>
                  </a:lnTo>
                  <a:lnTo>
                    <a:pt x="161" y="146"/>
                  </a:lnTo>
                  <a:lnTo>
                    <a:pt x="230" y="75"/>
                  </a:lnTo>
                  <a:lnTo>
                    <a:pt x="288" y="217"/>
                  </a:lnTo>
                  <a:lnTo>
                    <a:pt x="289" y="220"/>
                  </a:lnTo>
                  <a:lnTo>
                    <a:pt x="292" y="223"/>
                  </a:lnTo>
                  <a:lnTo>
                    <a:pt x="294" y="224"/>
                  </a:lnTo>
                  <a:lnTo>
                    <a:pt x="299" y="226"/>
                  </a:lnTo>
                  <a:lnTo>
                    <a:pt x="300" y="226"/>
                  </a:lnTo>
                  <a:lnTo>
                    <a:pt x="302" y="226"/>
                  </a:lnTo>
                  <a:lnTo>
                    <a:pt x="304" y="226"/>
                  </a:lnTo>
                  <a:lnTo>
                    <a:pt x="307" y="225"/>
                  </a:lnTo>
                  <a:lnTo>
                    <a:pt x="309" y="223"/>
                  </a:lnTo>
                  <a:lnTo>
                    <a:pt x="313" y="222"/>
                  </a:lnTo>
                  <a:lnTo>
                    <a:pt x="407" y="127"/>
                  </a:lnTo>
                  <a:lnTo>
                    <a:pt x="471" y="191"/>
                  </a:lnTo>
                  <a:lnTo>
                    <a:pt x="473" y="193"/>
                  </a:lnTo>
                  <a:lnTo>
                    <a:pt x="477" y="195"/>
                  </a:lnTo>
                  <a:lnTo>
                    <a:pt x="480" y="196"/>
                  </a:lnTo>
                  <a:lnTo>
                    <a:pt x="483" y="196"/>
                  </a:lnTo>
                  <a:lnTo>
                    <a:pt x="486" y="195"/>
                  </a:lnTo>
                  <a:lnTo>
                    <a:pt x="488" y="194"/>
                  </a:lnTo>
                  <a:lnTo>
                    <a:pt x="492" y="193"/>
                  </a:lnTo>
                  <a:lnTo>
                    <a:pt x="494" y="191"/>
                  </a:lnTo>
                  <a:lnTo>
                    <a:pt x="629" y="25"/>
                  </a:lnTo>
                  <a:lnTo>
                    <a:pt x="631" y="23"/>
                  </a:lnTo>
                  <a:lnTo>
                    <a:pt x="632" y="19"/>
                  </a:lnTo>
                  <a:lnTo>
                    <a:pt x="632" y="16"/>
                  </a:lnTo>
                  <a:lnTo>
                    <a:pt x="632" y="14"/>
                  </a:lnTo>
                  <a:lnTo>
                    <a:pt x="632" y="11"/>
                  </a:lnTo>
                  <a:lnTo>
                    <a:pt x="631" y="9"/>
                  </a:lnTo>
                  <a:lnTo>
                    <a:pt x="629" y="5"/>
                  </a:lnTo>
                  <a:lnTo>
                    <a:pt x="627" y="3"/>
                  </a:lnTo>
                  <a:lnTo>
                    <a:pt x="625" y="2"/>
                  </a:lnTo>
                  <a:lnTo>
                    <a:pt x="621" y="1"/>
                  </a:lnTo>
                  <a:lnTo>
                    <a:pt x="619" y="0"/>
                  </a:lnTo>
                  <a:lnTo>
                    <a:pt x="616" y="0"/>
                  </a:lnTo>
                  <a:lnTo>
                    <a:pt x="613" y="1"/>
                  </a:lnTo>
                  <a:lnTo>
                    <a:pt x="611" y="2"/>
                  </a:lnTo>
                  <a:lnTo>
                    <a:pt x="607" y="3"/>
                  </a:lnTo>
                  <a:lnTo>
                    <a:pt x="605" y="5"/>
                  </a:lnTo>
                  <a:lnTo>
                    <a:pt x="481" y="159"/>
                  </a:lnTo>
                  <a:lnTo>
                    <a:pt x="418" y="95"/>
                  </a:lnTo>
                  <a:lnTo>
                    <a:pt x="415" y="93"/>
                  </a:lnTo>
                  <a:lnTo>
                    <a:pt x="412" y="91"/>
                  </a:lnTo>
                  <a:lnTo>
                    <a:pt x="409" y="91"/>
                  </a:lnTo>
                  <a:lnTo>
                    <a:pt x="407" y="90"/>
                  </a:lnTo>
                  <a:lnTo>
                    <a:pt x="404" y="91"/>
                  </a:lnTo>
                  <a:lnTo>
                    <a:pt x="400" y="91"/>
                  </a:lnTo>
                  <a:lnTo>
                    <a:pt x="398" y="93"/>
                  </a:lnTo>
                  <a:lnTo>
                    <a:pt x="396" y="95"/>
                  </a:lnTo>
                  <a:lnTo>
                    <a:pt x="307" y="185"/>
                  </a:lnTo>
                  <a:lnTo>
                    <a:pt x="249" y="42"/>
                  </a:lnTo>
                  <a:lnTo>
                    <a:pt x="247" y="39"/>
                  </a:lnTo>
                  <a:lnTo>
                    <a:pt x="244" y="36"/>
                  </a:lnTo>
                  <a:lnTo>
                    <a:pt x="242" y="34"/>
                  </a:lnTo>
                  <a:lnTo>
                    <a:pt x="237" y="33"/>
                  </a:lnTo>
                  <a:lnTo>
                    <a:pt x="234" y="33"/>
                  </a:lnTo>
                  <a:lnTo>
                    <a:pt x="230" y="33"/>
                  </a:lnTo>
                  <a:lnTo>
                    <a:pt x="227" y="35"/>
                  </a:lnTo>
                  <a:lnTo>
                    <a:pt x="224" y="38"/>
                  </a:lnTo>
                  <a:lnTo>
                    <a:pt x="144" y="121"/>
                  </a:lnTo>
                  <a:lnTo>
                    <a:pt x="15" y="121"/>
                  </a:lnTo>
                  <a:lnTo>
                    <a:pt x="12" y="121"/>
                  </a:lnTo>
                  <a:lnTo>
                    <a:pt x="9" y="122"/>
                  </a:lnTo>
                  <a:lnTo>
                    <a:pt x="7" y="123"/>
                  </a:lnTo>
                  <a:lnTo>
                    <a:pt x="5" y="126"/>
                  </a:lnTo>
                  <a:lnTo>
                    <a:pt x="3" y="128"/>
                  </a:lnTo>
                  <a:lnTo>
                    <a:pt x="2" y="130"/>
                  </a:lnTo>
                  <a:lnTo>
                    <a:pt x="0" y="133"/>
                  </a:lnTo>
                  <a:lnTo>
                    <a:pt x="0" y="136"/>
                  </a:lnTo>
                  <a:lnTo>
                    <a:pt x="0" y="138"/>
                  </a:lnTo>
                  <a:lnTo>
                    <a:pt x="2" y="142"/>
                  </a:lnTo>
                  <a:lnTo>
                    <a:pt x="3" y="144"/>
                  </a:lnTo>
                  <a:lnTo>
                    <a:pt x="5" y="146"/>
                  </a:lnTo>
                  <a:lnTo>
                    <a:pt x="7" y="148"/>
                  </a:lnTo>
                  <a:lnTo>
                    <a:pt x="9" y="150"/>
                  </a:lnTo>
                  <a:lnTo>
                    <a:pt x="12" y="150"/>
                  </a:lnTo>
                  <a:lnTo>
                    <a:pt x="15" y="151"/>
                  </a:lnTo>
                  <a:lnTo>
                    <a:pt x="15" y="1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</p:grpSp>
    </p:spTree>
    <p:extLst>
      <p:ext uri="{BB962C8B-B14F-4D97-AF65-F5344CB8AC3E}">
        <p14:creationId xmlns:p14="http://schemas.microsoft.com/office/powerpoint/2010/main" val="23878490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rgbClr val="0D8295"/>
          </a:fgClr>
          <a:bgClr>
            <a:srgbClr val="09576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 hidden="1">
            <a:extLst>
              <a:ext uri="{FF2B5EF4-FFF2-40B4-BE49-F238E27FC236}">
                <a16:creationId xmlns:a16="http://schemas.microsoft.com/office/drawing/2014/main" id="{B5981CF1-BC08-49F8-B0F9-AAF98EC6745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fr-FR" dirty="0"/>
              <a:t>Analyse du projet : diapositive </a:t>
            </a:r>
            <a:r>
              <a:rPr lang="fr" dirty="0"/>
              <a:t>2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219768" y="522898"/>
            <a:ext cx="3972232" cy="0"/>
          </a:xfrm>
          <a:prstGeom prst="line">
            <a:avLst/>
          </a:prstGeom>
          <a:ln>
            <a:solidFill>
              <a:schemeClr val="bg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r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0"/>
            <a:r>
              <a:rPr lang="fr-FR" sz="2800" b="1" dirty="0">
                <a:solidFill>
                  <a:schemeClr val="bg1"/>
                </a:solidFill>
              </a:rPr>
              <a:t>Pourquoi ce diagnostic ?</a:t>
            </a:r>
            <a:br>
              <a:rPr lang="fr-FR" sz="2800" dirty="0">
                <a:solidFill>
                  <a:schemeClr val="bg1"/>
                </a:solidFill>
              </a:rPr>
            </a:br>
            <a:endParaRPr lang="fr-FR" sz="2800" dirty="0">
              <a:solidFill>
                <a:schemeClr val="bg1"/>
              </a:solidFill>
            </a:endParaRPr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3883742" cy="0"/>
          </a:xfrm>
          <a:prstGeom prst="line">
            <a:avLst/>
          </a:prstGeom>
          <a:ln>
            <a:solidFill>
              <a:schemeClr val="bg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5">
            <a:extLst>
              <a:ext uri="{FF2B5EF4-FFF2-40B4-BE49-F238E27FC236}">
                <a16:creationId xmlns:a16="http://schemas.microsoft.com/office/drawing/2014/main" id="{A400A8FD-5280-A281-8E38-12883A293D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290" y="1955508"/>
            <a:ext cx="5702710" cy="25340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Identifier les éventuels déséquilibres F/H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Automatiser notre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reporting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avec KNIME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Créer un fichier exploitable dans Tableau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Respecter le RGPD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Et surtout : faire de l’égalité un </a:t>
            </a: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levier de performance et d’attractivité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3" name="Image 42">
            <a:extLst>
              <a:ext uri="{FF2B5EF4-FFF2-40B4-BE49-F238E27FC236}">
                <a16:creationId xmlns:a16="http://schemas.microsoft.com/office/drawing/2014/main" id="{CA037895-6C1F-82FA-D6EB-C45E8B05D5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7168" y="1578088"/>
            <a:ext cx="4898923" cy="4055785"/>
          </a:xfrm>
          <a:prstGeom prst="rect">
            <a:avLst/>
          </a:prstGeom>
        </p:spPr>
      </p:pic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B377E303-A930-73D7-BCAC-BD3822F9A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6FEDF93-2BFD-41CA-ABC7-B039102F3792}" type="slidenum">
              <a:rPr lang="fr-FR" noProof="0" smtClean="0"/>
              <a:t>2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299715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rgbClr val="0D8295"/>
          </a:fgClr>
          <a:bgClr>
            <a:srgbClr val="095763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4C0259-290D-0B3F-0FF6-85CC3391A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 hidden="1">
            <a:extLst>
              <a:ext uri="{FF2B5EF4-FFF2-40B4-BE49-F238E27FC236}">
                <a16:creationId xmlns:a16="http://schemas.microsoft.com/office/drawing/2014/main" id="{FF144DC0-0470-0E59-49F6-475CDF6DFA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fr-FR" dirty="0"/>
              <a:t>Analyse du projet : diapositive </a:t>
            </a:r>
            <a:r>
              <a:rPr lang="fr" dirty="0"/>
              <a:t>2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43973B33-CDA1-1E50-75C7-A13F8F6AFE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266039" y="522898"/>
            <a:ext cx="4925961" cy="0"/>
          </a:xfrm>
          <a:prstGeom prst="line">
            <a:avLst/>
          </a:prstGeom>
          <a:ln>
            <a:solidFill>
              <a:schemeClr val="bg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re 1">
            <a:extLst>
              <a:ext uri="{FF2B5EF4-FFF2-40B4-BE49-F238E27FC236}">
                <a16:creationId xmlns:a16="http://schemas.microsoft.com/office/drawing/2014/main" id="{F662CBEC-E032-5A49-2A13-71DE2B5582FD}"/>
              </a:ext>
            </a:extLst>
          </p:cNvPr>
          <p:cNvSpPr txBox="1">
            <a:spLocks/>
          </p:cNvSpPr>
          <p:nvPr/>
        </p:nvSpPr>
        <p:spPr>
          <a:xfrm>
            <a:off x="179439" y="197636"/>
            <a:ext cx="11734800" cy="5816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0"/>
            <a:r>
              <a:rPr lang="fr-FR" sz="2800" b="1" dirty="0">
                <a:solidFill>
                  <a:schemeClr val="bg1"/>
                </a:solidFill>
              </a:rPr>
              <a:t>Nos effectifs</a:t>
            </a:r>
          </a:p>
          <a:p>
            <a:pPr algn="ctr"/>
            <a:r>
              <a:rPr lang="fr-FR" sz="1400" dirty="0">
                <a:solidFill>
                  <a:schemeClr val="bg1"/>
                </a:solidFill>
              </a:rPr>
              <a:t> une belle dynamique paritaire</a:t>
            </a:r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7089DBC0-0A1B-B064-6C95-5B978E336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803979" cy="0"/>
          </a:xfrm>
          <a:prstGeom prst="line">
            <a:avLst/>
          </a:prstGeom>
          <a:ln>
            <a:solidFill>
              <a:schemeClr val="bg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 2">
            <a:extLst>
              <a:ext uri="{FF2B5EF4-FFF2-40B4-BE49-F238E27FC236}">
                <a16:creationId xmlns:a16="http://schemas.microsoft.com/office/drawing/2014/main" id="{9BE992C8-4E51-9BDE-2F7E-888EE6E4D5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763" y="1201801"/>
            <a:ext cx="4058216" cy="4191585"/>
          </a:xfrm>
          <a:prstGeom prst="rect">
            <a:avLst/>
          </a:prstGeom>
        </p:spPr>
      </p:pic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B666D6F-97B7-00C4-5F5C-3772A595A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6FEDF93-2BFD-41CA-ABC7-B039102F3792}" type="slidenum">
              <a:rPr lang="fr-FR" noProof="0" smtClean="0"/>
              <a:t>3</a:t>
            </a:fld>
            <a:endParaRPr lang="fr-FR" noProof="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5EEC835-50EB-DD5C-48EB-CD8E0614C220}"/>
              </a:ext>
            </a:extLst>
          </p:cNvPr>
          <p:cNvSpPr txBox="1"/>
          <p:nvPr/>
        </p:nvSpPr>
        <p:spPr>
          <a:xfrm>
            <a:off x="6469626" y="2143431"/>
            <a:ext cx="488417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Sur 256 collaborateurs, nous comptons 125 femmes (49%) et 131 hommes (51%).</a:t>
            </a:r>
          </a:p>
          <a:p>
            <a:endParaRPr lang="fr-FR" dirty="0">
              <a:solidFill>
                <a:schemeClr val="bg1"/>
              </a:solidFill>
            </a:endParaRPr>
          </a:p>
          <a:p>
            <a:r>
              <a:rPr lang="fr-FR" dirty="0">
                <a:solidFill>
                  <a:schemeClr val="bg1"/>
                </a:solidFill>
              </a:rPr>
              <a:t>➡ Un quasi-équilibre qui montre une base saine, mais qui mérite d’être approfondie secteur par secteur.</a:t>
            </a:r>
          </a:p>
          <a:p>
            <a:br>
              <a:rPr lang="fr-FR" dirty="0"/>
            </a:b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3165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rgbClr val="0D8295"/>
          </a:fgClr>
          <a:bgClr>
            <a:srgbClr val="095763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C33756-22F5-7FE3-4987-CF7F5D2DB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 hidden="1">
            <a:extLst>
              <a:ext uri="{FF2B5EF4-FFF2-40B4-BE49-F238E27FC236}">
                <a16:creationId xmlns:a16="http://schemas.microsoft.com/office/drawing/2014/main" id="{F6E11582-BB78-016C-880F-40C1087D6B7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fr-FR" dirty="0"/>
              <a:t>Analyse du projet : diapositive </a:t>
            </a:r>
            <a:r>
              <a:rPr lang="fr" dirty="0"/>
              <a:t>2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77449B8E-95B4-2616-0716-1496467D3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445910" y="522898"/>
            <a:ext cx="3746090" cy="0"/>
          </a:xfrm>
          <a:prstGeom prst="line">
            <a:avLst/>
          </a:prstGeom>
          <a:ln>
            <a:solidFill>
              <a:schemeClr val="bg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re 1">
            <a:extLst>
              <a:ext uri="{FF2B5EF4-FFF2-40B4-BE49-F238E27FC236}">
                <a16:creationId xmlns:a16="http://schemas.microsoft.com/office/drawing/2014/main" id="{762F65FE-F9E4-0C27-B9F6-ABBC9FFEC013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5816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0"/>
            <a:r>
              <a:rPr lang="fr-FR" sz="2800" b="1" dirty="0">
                <a:solidFill>
                  <a:schemeClr val="bg1"/>
                </a:solidFill>
              </a:rPr>
              <a:t>Répartition H/F par service</a:t>
            </a:r>
          </a:p>
          <a:p>
            <a:pPr algn="ctr"/>
            <a:r>
              <a:rPr lang="fr-FR" sz="1400" dirty="0">
                <a:solidFill>
                  <a:schemeClr val="bg1"/>
                </a:solidFill>
              </a:rPr>
              <a:t>des contrastes à explorer</a:t>
            </a:r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85645624-534A-F63C-6D04-C79F83F8F6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3726426" cy="0"/>
          </a:xfrm>
          <a:prstGeom prst="line">
            <a:avLst/>
          </a:prstGeom>
          <a:ln>
            <a:solidFill>
              <a:schemeClr val="bg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48E42E80-3CC6-EF5A-AAC8-B5649982C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6FEDF93-2BFD-41CA-ABC7-B039102F3792}" type="slidenum">
              <a:rPr lang="fr-FR" noProof="0" smtClean="0"/>
              <a:t>4</a:t>
            </a:fld>
            <a:endParaRPr lang="fr-FR" noProof="0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707438C3-221B-B715-E453-2466002613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04373"/>
            <a:ext cx="12192000" cy="4553627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01387CA5-3E02-6BF4-2E7D-31B4D861E13B}"/>
              </a:ext>
            </a:extLst>
          </p:cNvPr>
          <p:cNvSpPr txBox="1"/>
          <p:nvPr/>
        </p:nvSpPr>
        <p:spPr>
          <a:xfrm>
            <a:off x="462116" y="967519"/>
            <a:ext cx="113365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Certains services sont très mixtes (RH, marketing), d’autres un peu plus genrés :</a:t>
            </a:r>
          </a:p>
          <a:p>
            <a:endParaRPr lang="fr-FR" dirty="0">
              <a:solidFill>
                <a:schemeClr val="bg1"/>
              </a:solidFill>
            </a:endParaRPr>
          </a:p>
          <a:p>
            <a:r>
              <a:rPr lang="fr-FR" dirty="0">
                <a:solidFill>
                  <a:schemeClr val="bg1"/>
                </a:solidFill>
              </a:rPr>
              <a:t>• Consulting &amp; informatique restent majoritairement masculins</a:t>
            </a:r>
          </a:p>
          <a:p>
            <a:r>
              <a:rPr lang="fr-FR" dirty="0">
                <a:solidFill>
                  <a:schemeClr val="bg1"/>
                </a:solidFill>
              </a:rPr>
              <a:t>• Des leviers d’actions peuvent y être renforcés (recrutement, mobilité interne)</a:t>
            </a:r>
          </a:p>
        </p:txBody>
      </p:sp>
    </p:spTree>
    <p:extLst>
      <p:ext uri="{BB962C8B-B14F-4D97-AF65-F5344CB8AC3E}">
        <p14:creationId xmlns:p14="http://schemas.microsoft.com/office/powerpoint/2010/main" val="2857878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rgbClr val="0D8295"/>
          </a:fgClr>
          <a:bgClr>
            <a:srgbClr val="095763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0DC9F8-929C-13BC-488D-2502F52F5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 hidden="1">
            <a:extLst>
              <a:ext uri="{FF2B5EF4-FFF2-40B4-BE49-F238E27FC236}">
                <a16:creationId xmlns:a16="http://schemas.microsoft.com/office/drawing/2014/main" id="{160D99F4-D419-608D-B5FA-411C7ADC0D1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fr-FR" dirty="0"/>
              <a:t>Analyse du projet : diapositive </a:t>
            </a:r>
            <a:r>
              <a:rPr lang="fr" dirty="0"/>
              <a:t>2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86C6D3A4-9DAC-A637-4A46-B73F6DC26B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31277" y="522898"/>
            <a:ext cx="4060723" cy="0"/>
          </a:xfrm>
          <a:prstGeom prst="line">
            <a:avLst/>
          </a:prstGeom>
          <a:ln>
            <a:solidFill>
              <a:schemeClr val="bg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re 1">
            <a:extLst>
              <a:ext uri="{FF2B5EF4-FFF2-40B4-BE49-F238E27FC236}">
                <a16:creationId xmlns:a16="http://schemas.microsoft.com/office/drawing/2014/main" id="{4D212F94-44E0-35C0-6DF8-3A7E98AB4670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5816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0"/>
            <a:r>
              <a:rPr lang="fr-FR" sz="2800" b="1" dirty="0">
                <a:solidFill>
                  <a:schemeClr val="bg1"/>
                </a:solidFill>
              </a:rPr>
              <a:t>Écart de rémunération</a:t>
            </a:r>
          </a:p>
          <a:p>
            <a:pPr algn="ctr"/>
            <a:r>
              <a:rPr lang="fr-FR" sz="1400" dirty="0">
                <a:solidFill>
                  <a:schemeClr val="bg1"/>
                </a:solidFill>
              </a:rPr>
              <a:t>un résultat encourageant</a:t>
            </a:r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D37B7451-1FC3-75DC-5A7C-649758B2D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31226" cy="0"/>
          </a:xfrm>
          <a:prstGeom prst="line">
            <a:avLst/>
          </a:prstGeom>
          <a:ln>
            <a:solidFill>
              <a:schemeClr val="bg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52A213AE-69F0-48C6-679E-E5DF27F89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6FEDF93-2BFD-41CA-ABC7-B039102F3792}" type="slidenum">
              <a:rPr lang="fr-FR" noProof="0" smtClean="0"/>
              <a:t>5</a:t>
            </a:fld>
            <a:endParaRPr lang="fr-FR" noProof="0" dirty="0"/>
          </a:p>
        </p:txBody>
      </p:sp>
      <p:pic>
        <p:nvPicPr>
          <p:cNvPr id="7" name="Image 6" descr="Une image contenant capture d’écran, diagramme, Rectangle, Tracé&#10;&#10;Le contenu généré par l’IA peut être incorrect.">
            <a:extLst>
              <a:ext uri="{FF2B5EF4-FFF2-40B4-BE49-F238E27FC236}">
                <a16:creationId xmlns:a16="http://schemas.microsoft.com/office/drawing/2014/main" id="{F6DE20A0-CFF9-B806-6110-6261F59B59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978" y="2889558"/>
            <a:ext cx="11390044" cy="3968442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DDBF152F-B8C1-83B2-BF82-250746938EA3}"/>
              </a:ext>
            </a:extLst>
          </p:cNvPr>
          <p:cNvSpPr txBox="1"/>
          <p:nvPr/>
        </p:nvSpPr>
        <p:spPr>
          <a:xfrm>
            <a:off x="1081548" y="1209367"/>
            <a:ext cx="94881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• Femmes : 5 267 €</a:t>
            </a:r>
          </a:p>
          <a:p>
            <a:r>
              <a:rPr lang="fr-FR" dirty="0">
                <a:solidFill>
                  <a:schemeClr val="bg1"/>
                </a:solidFill>
              </a:rPr>
              <a:t>• Hommes : 5 383 €</a:t>
            </a:r>
          </a:p>
          <a:p>
            <a:r>
              <a:rPr lang="fr-FR" dirty="0">
                <a:solidFill>
                  <a:schemeClr val="bg1"/>
                </a:solidFill>
              </a:rPr>
              <a:t>➡ Un écart de seulement 2,2 %</a:t>
            </a:r>
          </a:p>
          <a:p>
            <a:r>
              <a:rPr lang="fr-FR" dirty="0">
                <a:solidFill>
                  <a:schemeClr val="bg1"/>
                </a:solidFill>
              </a:rPr>
              <a:t>Nous sommes bien en dessous du seuil d’alerte de 5 % prévu par la loi. C’est un excellent signe</a:t>
            </a:r>
            <a:r>
              <a:rPr lang="fr-F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407070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rgbClr val="0D8295"/>
          </a:fgClr>
          <a:bgClr>
            <a:srgbClr val="09576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8" hidden="1">
            <a:extLst>
              <a:ext uri="{FF2B5EF4-FFF2-40B4-BE49-F238E27FC236}">
                <a16:creationId xmlns:a16="http://schemas.microsoft.com/office/drawing/2014/main" id="{9FDB6406-0CDB-4213-A1B6-DE47D953FED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fr-FR" dirty="0"/>
              <a:t>Analyse du projet : diapositive </a:t>
            </a:r>
            <a:r>
              <a:rPr lang="fr" dirty="0"/>
              <a:t>3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bg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r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0"/>
            <a:r>
              <a:rPr lang="fr-FR" sz="2800" b="1" dirty="0">
                <a:solidFill>
                  <a:schemeClr val="bg1"/>
                </a:solidFill>
              </a:rPr>
              <a:t>Salaires par tranches</a:t>
            </a:r>
          </a:p>
          <a:p>
            <a:pPr algn="ctr"/>
            <a:r>
              <a:rPr lang="fr-FR" sz="1400" dirty="0">
                <a:solidFill>
                  <a:schemeClr val="bg1"/>
                </a:solidFill>
              </a:rPr>
              <a:t>où sont les écarts ?</a:t>
            </a:r>
            <a:br>
              <a:rPr lang="fr-FR" sz="1400" dirty="0">
                <a:solidFill>
                  <a:schemeClr val="bg1"/>
                </a:solidFill>
              </a:rPr>
            </a:br>
            <a:endParaRPr lang="fr-FR" sz="1400" dirty="0">
              <a:solidFill>
                <a:schemeClr val="bg1"/>
              </a:solidFill>
            </a:endParaRPr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bg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F7ECCD8-6205-9A20-41A6-76F5E02A7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6FEDF93-2BFD-41CA-ABC7-B039102F3792}" type="slidenum">
              <a:rPr lang="fr-FR" noProof="0" smtClean="0"/>
              <a:t>6</a:t>
            </a:fld>
            <a:endParaRPr lang="fr-FR" noProof="0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63CA5874-83DE-D302-CB2C-CD4811F5FC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10146"/>
            <a:ext cx="12192000" cy="4247854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A4C9D477-B001-8B42-ED92-66C6103BE2C3}"/>
              </a:ext>
            </a:extLst>
          </p:cNvPr>
          <p:cNvSpPr txBox="1"/>
          <p:nvPr/>
        </p:nvSpPr>
        <p:spPr>
          <a:xfrm>
            <a:off x="481781" y="1086390"/>
            <a:ext cx="113464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Globalement, la distribution est équilibrée.</a:t>
            </a:r>
            <a:br>
              <a:rPr lang="fr-FR" dirty="0">
                <a:solidFill>
                  <a:schemeClr val="bg1"/>
                </a:solidFill>
              </a:rPr>
            </a:br>
            <a:r>
              <a:rPr lang="fr-FR" dirty="0">
                <a:solidFill>
                  <a:schemeClr val="bg1"/>
                </a:solidFill>
              </a:rPr>
              <a:t>➡️ Toutefois, les très hauts salaires (&gt; 8 500 €) restent plus masculins.</a:t>
            </a:r>
            <a:br>
              <a:rPr lang="fr-FR" dirty="0">
                <a:solidFill>
                  <a:schemeClr val="bg1"/>
                </a:solidFill>
              </a:rPr>
            </a:br>
            <a:r>
              <a:rPr lang="fr-FR" dirty="0">
                <a:solidFill>
                  <a:schemeClr val="bg1"/>
                </a:solidFill>
              </a:rPr>
              <a:t>C’est un </a:t>
            </a:r>
            <a:r>
              <a:rPr lang="fr-FR" b="1" dirty="0">
                <a:solidFill>
                  <a:schemeClr val="bg1"/>
                </a:solidFill>
              </a:rPr>
              <a:t>point de vigilance pour l’avenir</a:t>
            </a:r>
            <a:r>
              <a:rPr lang="fr-FR" dirty="0">
                <a:solidFill>
                  <a:schemeClr val="bg1"/>
                </a:solidFill>
              </a:rPr>
              <a:t>, notamment pour les postes à responsabilité.</a:t>
            </a:r>
          </a:p>
        </p:txBody>
      </p:sp>
    </p:spTree>
    <p:extLst>
      <p:ext uri="{BB962C8B-B14F-4D97-AF65-F5344CB8AC3E}">
        <p14:creationId xmlns:p14="http://schemas.microsoft.com/office/powerpoint/2010/main" val="8225691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rgbClr val="0D8295"/>
          </a:fgClr>
          <a:bgClr>
            <a:srgbClr val="09576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 hidden="1">
            <a:extLst>
              <a:ext uri="{FF2B5EF4-FFF2-40B4-BE49-F238E27FC236}">
                <a16:creationId xmlns:a16="http://schemas.microsoft.com/office/drawing/2014/main" id="{ED2F5393-91A3-4102-A584-E902285C507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fr-FR" dirty="0"/>
              <a:t>Analyse du projet : diapositive </a:t>
            </a:r>
            <a:r>
              <a:rPr lang="fr" dirty="0"/>
              <a:t>4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bg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r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0"/>
            <a:r>
              <a:rPr lang="fr-FR" sz="2800" b="1" dirty="0">
                <a:solidFill>
                  <a:schemeClr val="bg1"/>
                </a:solidFill>
              </a:rPr>
              <a:t>Les augmentations</a:t>
            </a:r>
          </a:p>
          <a:p>
            <a:pPr algn="ctr"/>
            <a:r>
              <a:rPr lang="fr-FR" sz="1400" dirty="0">
                <a:solidFill>
                  <a:schemeClr val="bg1"/>
                </a:solidFill>
              </a:rPr>
              <a:t>une dynamique encourageante</a:t>
            </a:r>
            <a:br>
              <a:rPr lang="fr-FR" sz="1400" dirty="0">
                <a:solidFill>
                  <a:schemeClr val="bg1"/>
                </a:solidFill>
              </a:rPr>
            </a:br>
            <a:endParaRPr lang="fr-FR" sz="1400" dirty="0">
              <a:solidFill>
                <a:schemeClr val="bg1"/>
              </a:solidFill>
            </a:endParaRPr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bg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06B14922-185E-08F1-593A-9C3EC740F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6FEDF93-2BFD-41CA-ABC7-B039102F3792}" type="slidenum">
              <a:rPr lang="fr-FR" noProof="0" smtClean="0"/>
              <a:t>7</a:t>
            </a:fld>
            <a:endParaRPr lang="fr-FR" noProof="0" dirty="0"/>
          </a:p>
        </p:txBody>
      </p:sp>
      <p:pic>
        <p:nvPicPr>
          <p:cNvPr id="5" name="Image 4" descr="Une image contenant capture d’écran, Rectangle, diagramme, conception">
            <a:extLst>
              <a:ext uri="{FF2B5EF4-FFF2-40B4-BE49-F238E27FC236}">
                <a16:creationId xmlns:a16="http://schemas.microsoft.com/office/drawing/2014/main" id="{59B5925B-8744-DF1B-A546-361EFFE595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403" y="2939527"/>
            <a:ext cx="11560278" cy="3918473"/>
          </a:xfrm>
          <a:prstGeom prst="rect">
            <a:avLst/>
          </a:prstGeom>
        </p:spPr>
      </p:pic>
      <p:sp>
        <p:nvSpPr>
          <p:cNvPr id="18" name="ZoneTexte 17">
            <a:extLst>
              <a:ext uri="{FF2B5EF4-FFF2-40B4-BE49-F238E27FC236}">
                <a16:creationId xmlns:a16="http://schemas.microsoft.com/office/drawing/2014/main" id="{A5BBAE1E-2C6A-2D4B-38FF-1462B1B807D9}"/>
              </a:ext>
            </a:extLst>
          </p:cNvPr>
          <p:cNvSpPr txBox="1"/>
          <p:nvPr/>
        </p:nvSpPr>
        <p:spPr>
          <a:xfrm>
            <a:off x="833284" y="855297"/>
            <a:ext cx="1052051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dirty="0">
                <a:solidFill>
                  <a:schemeClr val="bg1"/>
                </a:solidFill>
              </a:rPr>
              <a:t>Femmes : 53,6 %</a:t>
            </a:r>
          </a:p>
          <a:p>
            <a:pPr marL="285750" indent="-285750">
              <a:buFontTx/>
              <a:buChar char="-"/>
            </a:pPr>
            <a:r>
              <a:rPr lang="fr-FR" dirty="0">
                <a:solidFill>
                  <a:schemeClr val="bg1"/>
                </a:solidFill>
              </a:rPr>
              <a:t>Hommes : 46,6 %</a:t>
            </a:r>
          </a:p>
          <a:p>
            <a:endParaRPr lang="fr-FR" dirty="0">
              <a:solidFill>
                <a:schemeClr val="bg1"/>
              </a:solidFill>
            </a:endParaRPr>
          </a:p>
          <a:p>
            <a:r>
              <a:rPr lang="fr-FR" dirty="0">
                <a:solidFill>
                  <a:schemeClr val="bg1"/>
                </a:solidFill>
              </a:rPr>
              <a:t>Les femmes ont été </a:t>
            </a:r>
            <a:r>
              <a:rPr lang="fr-FR" b="1" dirty="0">
                <a:solidFill>
                  <a:schemeClr val="bg1"/>
                </a:solidFill>
              </a:rPr>
              <a:t>plus souvent augmentées</a:t>
            </a:r>
            <a:r>
              <a:rPr lang="fr-FR" dirty="0">
                <a:solidFill>
                  <a:schemeClr val="bg1"/>
                </a:solidFill>
              </a:rPr>
              <a:t> que les hommes cette année.</a:t>
            </a:r>
            <a:br>
              <a:rPr lang="fr-FR" dirty="0">
                <a:solidFill>
                  <a:schemeClr val="bg1"/>
                </a:solidFill>
              </a:rPr>
            </a:br>
            <a:r>
              <a:rPr lang="fr-FR" dirty="0">
                <a:solidFill>
                  <a:schemeClr val="bg1"/>
                </a:solidFill>
              </a:rPr>
              <a:t>➡️ Un bon signal… mais aussi </a:t>
            </a:r>
            <a:r>
              <a:rPr lang="fr-FR" b="1" dirty="0">
                <a:solidFill>
                  <a:schemeClr val="bg1"/>
                </a:solidFill>
              </a:rPr>
              <a:t>un rattrapage nécessaire</a:t>
            </a:r>
            <a:r>
              <a:rPr lang="fr-FR" dirty="0">
                <a:solidFill>
                  <a:schemeClr val="bg1"/>
                </a:solidFill>
              </a:rPr>
              <a:t>, car leur salaire reste légèrement inférieur.</a:t>
            </a:r>
          </a:p>
          <a:p>
            <a:r>
              <a:rPr lang="fr-FR" dirty="0">
                <a:solidFill>
                  <a:schemeClr val="bg1"/>
                </a:solidFill>
              </a:rPr>
              <a:t>Ces efforts contribuent à </a:t>
            </a:r>
            <a:r>
              <a:rPr lang="fr-FR" b="1" dirty="0">
                <a:solidFill>
                  <a:schemeClr val="bg1"/>
                </a:solidFill>
              </a:rPr>
              <a:t>réduire l’écart</a:t>
            </a:r>
            <a:r>
              <a:rPr lang="fr-FR" dirty="0">
                <a:solidFill>
                  <a:schemeClr val="bg1"/>
                </a:solidFill>
              </a:rPr>
              <a:t> et à tendre vers une rémunération plus équitable.</a:t>
            </a:r>
          </a:p>
          <a:p>
            <a:endParaRPr lang="fr-F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37681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rgbClr val="0D8295"/>
          </a:fgClr>
          <a:bgClr>
            <a:srgbClr val="095763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12DC17-91B2-0047-433E-D70A325A7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 hidden="1">
            <a:extLst>
              <a:ext uri="{FF2B5EF4-FFF2-40B4-BE49-F238E27FC236}">
                <a16:creationId xmlns:a16="http://schemas.microsoft.com/office/drawing/2014/main" id="{1DCF8A3D-98E6-CB0D-B837-E1A6F9768DA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fr-FR" dirty="0"/>
              <a:t>Analyse du projet : diapositive </a:t>
            </a:r>
            <a:r>
              <a:rPr lang="fr" dirty="0"/>
              <a:t>4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1C8A1BF4-23BA-537B-75CA-3D64EFB749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511845" y="522898"/>
            <a:ext cx="4680155" cy="0"/>
          </a:xfrm>
          <a:prstGeom prst="line">
            <a:avLst/>
          </a:prstGeom>
          <a:ln>
            <a:solidFill>
              <a:schemeClr val="bg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re 1">
            <a:extLst>
              <a:ext uri="{FF2B5EF4-FFF2-40B4-BE49-F238E27FC236}">
                <a16:creationId xmlns:a16="http://schemas.microsoft.com/office/drawing/2014/main" id="{EDBA5E56-85C0-8B8B-1A27-39873F67AF3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0"/>
            <a:r>
              <a:rPr lang="fr-FR" sz="2800" b="1" dirty="0">
                <a:solidFill>
                  <a:schemeClr val="bg1"/>
                </a:solidFill>
              </a:rPr>
              <a:t>Les promotions</a:t>
            </a:r>
          </a:p>
          <a:p>
            <a:pPr algn="ctr" rtl="0"/>
            <a:r>
              <a:rPr lang="fr-FR" sz="1400" dirty="0">
                <a:solidFill>
                  <a:schemeClr val="bg1"/>
                </a:solidFill>
              </a:rPr>
              <a:t>qui évolue vraiment ?</a:t>
            </a:r>
            <a:br>
              <a:rPr lang="fr-FR" sz="1400" dirty="0">
                <a:solidFill>
                  <a:schemeClr val="bg1"/>
                </a:solidFill>
              </a:rPr>
            </a:br>
            <a:endParaRPr lang="fr-FR" sz="1400" dirty="0">
              <a:solidFill>
                <a:schemeClr val="bg1"/>
              </a:solidFill>
            </a:endParaRPr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2BCFE352-5FFB-6DC9-F5C0-5A32DCB7AF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660490" cy="0"/>
          </a:xfrm>
          <a:prstGeom prst="line">
            <a:avLst/>
          </a:prstGeom>
          <a:ln>
            <a:solidFill>
              <a:schemeClr val="bg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64DB2690-2ECB-FA44-79A4-5D1D3FF0D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6FEDF93-2BFD-41CA-ABC7-B039102F3792}" type="slidenum">
              <a:rPr lang="fr-FR" noProof="0" smtClean="0"/>
              <a:t>8</a:t>
            </a:fld>
            <a:endParaRPr lang="fr-FR" noProof="0" dirty="0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467FD7F1-6402-0FFB-FCA7-E70F15BBB1E8}"/>
              </a:ext>
            </a:extLst>
          </p:cNvPr>
          <p:cNvSpPr txBox="1"/>
          <p:nvPr/>
        </p:nvSpPr>
        <p:spPr>
          <a:xfrm>
            <a:off x="833284" y="880151"/>
            <a:ext cx="1052051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dirty="0">
                <a:solidFill>
                  <a:schemeClr val="bg1"/>
                </a:solidFill>
              </a:rPr>
              <a:t>Femmes : 17,6 %</a:t>
            </a:r>
          </a:p>
          <a:p>
            <a:pPr marL="285750" indent="-285750">
              <a:buFontTx/>
              <a:buChar char="-"/>
            </a:pPr>
            <a:r>
              <a:rPr lang="fr-FR" dirty="0">
                <a:solidFill>
                  <a:schemeClr val="bg1"/>
                </a:solidFill>
              </a:rPr>
              <a:t>Hommes : 16,8 %</a:t>
            </a:r>
          </a:p>
          <a:p>
            <a:endParaRPr lang="fr-FR" dirty="0">
              <a:solidFill>
                <a:schemeClr val="bg1"/>
              </a:solidFill>
            </a:endParaRPr>
          </a:p>
          <a:p>
            <a:r>
              <a:rPr lang="fr-FR" dirty="0">
                <a:solidFill>
                  <a:schemeClr val="bg1"/>
                </a:solidFill>
              </a:rPr>
              <a:t>Cette année, les femmes ont été légèrement plus nombreuses à être promues que les hommes.</a:t>
            </a:r>
          </a:p>
          <a:p>
            <a:r>
              <a:rPr lang="fr-FR" dirty="0">
                <a:solidFill>
                  <a:schemeClr val="bg1"/>
                </a:solidFill>
              </a:rPr>
              <a:t>➡️ C’est un signal positif, surtout si l’on veut faire évoluer la représentation féminine dans les plus hauts salaires.</a:t>
            </a:r>
          </a:p>
          <a:p>
            <a:r>
              <a:rPr lang="fr-FR" dirty="0">
                <a:solidFill>
                  <a:schemeClr val="bg1"/>
                </a:solidFill>
              </a:rPr>
              <a:t>Les promotions peuvent être un moyen concret de corriger les écarts, à condition que cette dynamique se poursuive dans le temps.</a:t>
            </a:r>
          </a:p>
        </p:txBody>
      </p:sp>
      <p:pic>
        <p:nvPicPr>
          <p:cNvPr id="6" name="Image 5" descr="Une image contenant diagramme, Rectangle, Tracé, ligne&#10;&#10;Le contenu généré par l’IA peut être incorrect.">
            <a:extLst>
              <a:ext uri="{FF2B5EF4-FFF2-40B4-BE49-F238E27FC236}">
                <a16:creationId xmlns:a16="http://schemas.microsoft.com/office/drawing/2014/main" id="{746DE511-A8E8-A04A-AC72-700B7934EB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68728"/>
            <a:ext cx="12192000" cy="3589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5946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rgbClr val="0D8295"/>
          </a:fgClr>
          <a:bgClr>
            <a:srgbClr val="095763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3A3E35-C730-AF98-71D3-3086D3642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 hidden="1">
            <a:extLst>
              <a:ext uri="{FF2B5EF4-FFF2-40B4-BE49-F238E27FC236}">
                <a16:creationId xmlns:a16="http://schemas.microsoft.com/office/drawing/2014/main" id="{DA556763-0DB1-1766-1113-A0F4F36C315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fr-FR" dirty="0"/>
              <a:t>Analyse du projet : diapositive </a:t>
            </a:r>
            <a:r>
              <a:rPr lang="fr" dirty="0"/>
              <a:t>4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0BDAA13A-C23E-4277-51EC-140E423534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809703" y="522898"/>
            <a:ext cx="3382297" cy="0"/>
          </a:xfrm>
          <a:prstGeom prst="line">
            <a:avLst/>
          </a:prstGeom>
          <a:ln>
            <a:solidFill>
              <a:schemeClr val="bg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re 1">
            <a:extLst>
              <a:ext uri="{FF2B5EF4-FFF2-40B4-BE49-F238E27FC236}">
                <a16:creationId xmlns:a16="http://schemas.microsoft.com/office/drawing/2014/main" id="{F18B6ECB-2FB3-BC47-8B04-5720B854D1E7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5816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0"/>
            <a:r>
              <a:rPr lang="fr-FR" sz="2800" b="1" dirty="0">
                <a:solidFill>
                  <a:schemeClr val="bg1"/>
                </a:solidFill>
              </a:rPr>
              <a:t>Et la parentalité dans tout ça ?</a:t>
            </a:r>
            <a:br>
              <a:rPr lang="fr-FR" sz="1400" dirty="0">
                <a:solidFill>
                  <a:schemeClr val="bg1"/>
                </a:solidFill>
              </a:rPr>
            </a:br>
            <a:endParaRPr lang="fr-FR" sz="1400" dirty="0">
              <a:solidFill>
                <a:schemeClr val="bg1"/>
              </a:solidFill>
            </a:endParaRPr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1D7F596A-E3FD-FDDC-AAE6-0A1AD482FA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3333135" cy="0"/>
          </a:xfrm>
          <a:prstGeom prst="line">
            <a:avLst/>
          </a:prstGeom>
          <a:ln>
            <a:solidFill>
              <a:schemeClr val="bg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597759C-7EA5-ACC6-59AF-11BDD51AC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6FEDF93-2BFD-41CA-ABC7-B039102F3792}" type="slidenum">
              <a:rPr lang="fr-FR" noProof="0" smtClean="0"/>
              <a:t>9</a:t>
            </a:fld>
            <a:endParaRPr lang="fr-FR" noProof="0" dirty="0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C61E5F82-C5ED-27CD-5045-0C4C36A99B87}"/>
              </a:ext>
            </a:extLst>
          </p:cNvPr>
          <p:cNvSpPr txBox="1"/>
          <p:nvPr/>
        </p:nvSpPr>
        <p:spPr>
          <a:xfrm>
            <a:off x="518651" y="1171084"/>
            <a:ext cx="105205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Le temps partiel est </a:t>
            </a:r>
            <a:r>
              <a:rPr lang="fr-FR" b="1" dirty="0">
                <a:solidFill>
                  <a:schemeClr val="bg1"/>
                </a:solidFill>
              </a:rPr>
              <a:t>plus fréquent chez les salariés sans enfants</a:t>
            </a:r>
            <a:r>
              <a:rPr lang="fr-FR" dirty="0">
                <a:solidFill>
                  <a:schemeClr val="bg1"/>
                </a:solidFill>
              </a:rPr>
              <a:t>, aussi bien chez les femmes que chez les hommes.</a:t>
            </a:r>
          </a:p>
          <a:p>
            <a:r>
              <a:rPr lang="fr-FR" dirty="0">
                <a:solidFill>
                  <a:schemeClr val="bg1"/>
                </a:solidFill>
              </a:rPr>
              <a:t>Autre fait marquant : </a:t>
            </a:r>
            <a:r>
              <a:rPr lang="fr-FR" b="1" dirty="0">
                <a:solidFill>
                  <a:schemeClr val="bg1"/>
                </a:solidFill>
              </a:rPr>
              <a:t>plus d’hommes que de femmes à temps partiel parmi les parents</a:t>
            </a:r>
            <a:r>
              <a:rPr lang="fr-FR" dirty="0">
                <a:solidFill>
                  <a:schemeClr val="bg1"/>
                </a:solidFill>
              </a:rPr>
              <a:t>.</a:t>
            </a:r>
          </a:p>
          <a:p>
            <a:r>
              <a:rPr lang="fr-FR" dirty="0">
                <a:solidFill>
                  <a:schemeClr val="bg1"/>
                </a:solidFill>
              </a:rPr>
              <a:t>➡️ Des résultats qui montrent que le temps partiel ne suit pas toujours les idées reçues.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36C479FE-C672-83BB-BDA8-F643FEFC4A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72618"/>
            <a:ext cx="12192000" cy="3589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0396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rgbClr val="0D8295"/>
          </a:fgClr>
          <a:bgClr>
            <a:srgbClr val="095763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5EDD63-E581-E4CC-DB61-3C5A2390C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 hidden="1">
            <a:extLst>
              <a:ext uri="{FF2B5EF4-FFF2-40B4-BE49-F238E27FC236}">
                <a16:creationId xmlns:a16="http://schemas.microsoft.com/office/drawing/2014/main" id="{0B0E561C-15AB-64AA-06D0-1F57AE5924C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fr-FR" dirty="0"/>
              <a:t>Analyse du projet : diapositive </a:t>
            </a:r>
            <a:r>
              <a:rPr lang="fr" dirty="0"/>
              <a:t>4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33FD5BA1-96DB-B6AD-628B-97DBC9393D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70606" y="522898"/>
            <a:ext cx="4021394" cy="0"/>
          </a:xfrm>
          <a:prstGeom prst="line">
            <a:avLst/>
          </a:prstGeom>
          <a:ln>
            <a:solidFill>
              <a:schemeClr val="bg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re 1">
            <a:extLst>
              <a:ext uri="{FF2B5EF4-FFF2-40B4-BE49-F238E27FC236}">
                <a16:creationId xmlns:a16="http://schemas.microsoft.com/office/drawing/2014/main" id="{23E768F6-D4DD-8CE8-A59B-C9BE835D74C1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3877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0"/>
            <a:r>
              <a:rPr lang="fr-FR" sz="2800" b="1" dirty="0">
                <a:solidFill>
                  <a:schemeClr val="bg1"/>
                </a:solidFill>
              </a:rPr>
              <a:t>Rémunération variable</a:t>
            </a:r>
            <a:endParaRPr lang="fr-FR" sz="1400" dirty="0">
              <a:solidFill>
                <a:schemeClr val="bg1"/>
              </a:solidFill>
            </a:endParaRPr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28EC44FA-37BC-4DB6-0BBE-4D4B91EE0D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3952568" cy="0"/>
          </a:xfrm>
          <a:prstGeom prst="line">
            <a:avLst/>
          </a:prstGeom>
          <a:ln>
            <a:solidFill>
              <a:schemeClr val="bg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0AC20F3D-94E8-8E17-916E-C5AC0272D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6FEDF93-2BFD-41CA-ABC7-B039102F3792}" type="slidenum">
              <a:rPr lang="fr-FR" noProof="0" smtClean="0"/>
              <a:t>10</a:t>
            </a:fld>
            <a:endParaRPr lang="fr-FR" noProof="0" dirty="0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3480D2D7-E291-0E2E-AE34-E3E1DF02E651}"/>
              </a:ext>
            </a:extLst>
          </p:cNvPr>
          <p:cNvSpPr txBox="1"/>
          <p:nvPr/>
        </p:nvSpPr>
        <p:spPr>
          <a:xfrm>
            <a:off x="695631" y="1124831"/>
            <a:ext cx="1052051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🔹 </a:t>
            </a:r>
            <a:r>
              <a:rPr lang="fr-FR" b="1" dirty="0">
                <a:solidFill>
                  <a:schemeClr val="bg1"/>
                </a:solidFill>
              </a:rPr>
              <a:t>Sans enfants</a:t>
            </a:r>
            <a:r>
              <a:rPr lang="fr-FR" dirty="0">
                <a:solidFill>
                  <a:schemeClr val="bg1"/>
                </a:solidFill>
              </a:rPr>
              <a:t>, les hommes perçoivent une part variable plus élevée que les femmes (+3%).</a:t>
            </a:r>
            <a:br>
              <a:rPr lang="fr-FR" dirty="0">
                <a:solidFill>
                  <a:schemeClr val="bg1"/>
                </a:solidFill>
              </a:rPr>
            </a:br>
            <a:r>
              <a:rPr lang="fr-FR" dirty="0">
                <a:solidFill>
                  <a:schemeClr val="bg1"/>
                </a:solidFill>
              </a:rPr>
              <a:t>🔹 </a:t>
            </a:r>
            <a:r>
              <a:rPr lang="fr-FR" b="1" dirty="0">
                <a:solidFill>
                  <a:schemeClr val="bg1"/>
                </a:solidFill>
              </a:rPr>
              <a:t>Avec enfants</a:t>
            </a:r>
            <a:r>
              <a:rPr lang="fr-FR" dirty="0">
                <a:solidFill>
                  <a:schemeClr val="bg1"/>
                </a:solidFill>
              </a:rPr>
              <a:t>, c’est l’inverse : les femmes reçoivent une rémunération variable légèrement supérieure (+1,2%).</a:t>
            </a:r>
          </a:p>
          <a:p>
            <a:endParaRPr lang="fr-FR" dirty="0">
              <a:solidFill>
                <a:schemeClr val="bg1"/>
              </a:solidFill>
            </a:endParaRPr>
          </a:p>
          <a:p>
            <a:r>
              <a:rPr lang="fr-FR" dirty="0">
                <a:solidFill>
                  <a:schemeClr val="bg1"/>
                </a:solidFill>
              </a:rPr>
              <a:t>Ces écarts sont modestes, mais montrent que la </a:t>
            </a:r>
            <a:r>
              <a:rPr lang="fr-FR" b="1" dirty="0">
                <a:solidFill>
                  <a:schemeClr val="bg1"/>
                </a:solidFill>
              </a:rPr>
              <a:t>parentalité ne pénalise pas les femmes</a:t>
            </a:r>
            <a:r>
              <a:rPr lang="fr-FR" dirty="0">
                <a:solidFill>
                  <a:schemeClr val="bg1"/>
                </a:solidFill>
              </a:rPr>
              <a:t> dans l’attribution des primes.</a:t>
            </a:r>
            <a:br>
              <a:rPr lang="fr-FR" dirty="0">
                <a:solidFill>
                  <a:schemeClr val="bg1"/>
                </a:solidFill>
              </a:rPr>
            </a:br>
            <a:r>
              <a:rPr lang="fr-FR" dirty="0">
                <a:solidFill>
                  <a:schemeClr val="bg1"/>
                </a:solidFill>
              </a:rPr>
              <a:t>Un signal plutôt positif, </a:t>
            </a:r>
            <a:r>
              <a:rPr lang="fr-FR" b="1" dirty="0">
                <a:solidFill>
                  <a:schemeClr val="bg1"/>
                </a:solidFill>
              </a:rPr>
              <a:t>même si l’écart en faveur des hommes sans enfants mérite attention</a:t>
            </a:r>
            <a:r>
              <a:rPr lang="fr-FR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9" name="Image 8" descr="Une image contenant diagramme, Tracé, ligne, Rectangle&#10;&#10;Le contenu généré par l’IA peut être incorrect.">
            <a:extLst>
              <a:ext uri="{FF2B5EF4-FFF2-40B4-BE49-F238E27FC236}">
                <a16:creationId xmlns:a16="http://schemas.microsoft.com/office/drawing/2014/main" id="{6FCD87DA-9BA0-CD29-7644-D6B1828B56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68728"/>
            <a:ext cx="12192000" cy="3589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1370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rgbClr val="0D8295"/>
          </a:fgClr>
          <a:bgClr>
            <a:srgbClr val="095763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E4CF30-411B-A10A-9CA6-29CEA7B26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 hidden="1">
            <a:extLst>
              <a:ext uri="{FF2B5EF4-FFF2-40B4-BE49-F238E27FC236}">
                <a16:creationId xmlns:a16="http://schemas.microsoft.com/office/drawing/2014/main" id="{771587AA-E9D8-078A-E4C7-7273F3B2417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fr-FR" dirty="0"/>
              <a:t>Analyse du projet : diapositive </a:t>
            </a:r>
            <a:r>
              <a:rPr lang="fr" dirty="0"/>
              <a:t>4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D5CC7A35-2498-2D62-868A-2BD62CFE39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777316" y="522898"/>
            <a:ext cx="4414684" cy="0"/>
          </a:xfrm>
          <a:prstGeom prst="line">
            <a:avLst/>
          </a:prstGeom>
          <a:ln>
            <a:solidFill>
              <a:schemeClr val="bg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re 1">
            <a:extLst>
              <a:ext uri="{FF2B5EF4-FFF2-40B4-BE49-F238E27FC236}">
                <a16:creationId xmlns:a16="http://schemas.microsoft.com/office/drawing/2014/main" id="{AC1829A2-AD36-EDFF-0C63-5E54373DC2DC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5816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0"/>
            <a:r>
              <a:rPr lang="fr-FR" sz="2800" b="1" dirty="0">
                <a:solidFill>
                  <a:schemeClr val="bg1"/>
                </a:solidFill>
              </a:rPr>
              <a:t>Top 10 des salaires</a:t>
            </a:r>
          </a:p>
          <a:p>
            <a:pPr algn="ctr" rtl="0"/>
            <a:r>
              <a:rPr lang="fr-FR" sz="1400" dirty="0">
                <a:solidFill>
                  <a:schemeClr val="bg1"/>
                </a:solidFill>
              </a:rPr>
              <a:t>encore peu de femmes</a:t>
            </a:r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3F89518E-6423-7976-6B5A-E6D309E42F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355690" cy="0"/>
          </a:xfrm>
          <a:prstGeom prst="line">
            <a:avLst/>
          </a:prstGeom>
          <a:ln>
            <a:solidFill>
              <a:schemeClr val="bg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7F53039B-46B3-E502-6CD0-728ABC7A2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6FEDF93-2BFD-41CA-ABC7-B039102F3792}" type="slidenum">
              <a:rPr lang="fr-FR" noProof="0" smtClean="0"/>
              <a:t>11</a:t>
            </a:fld>
            <a:endParaRPr lang="fr-FR" noProof="0" dirty="0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2A7FE9C7-6C16-9924-F089-22A983D88E54}"/>
              </a:ext>
            </a:extLst>
          </p:cNvPr>
          <p:cNvSpPr txBox="1"/>
          <p:nvPr/>
        </p:nvSpPr>
        <p:spPr>
          <a:xfrm>
            <a:off x="685799" y="979349"/>
            <a:ext cx="1056230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Dans les 10 plus hauts salaires de l’entreprise, 7 sont occupés par des hommes et 3 par des femmes.</a:t>
            </a:r>
          </a:p>
          <a:p>
            <a:endParaRPr lang="fr-FR" dirty="0">
              <a:solidFill>
                <a:schemeClr val="bg1"/>
              </a:solidFill>
            </a:endParaRPr>
          </a:p>
          <a:p>
            <a:r>
              <a:rPr lang="fr-FR" dirty="0">
                <a:solidFill>
                  <a:schemeClr val="bg1"/>
                </a:solidFill>
              </a:rPr>
              <a:t>Ce graphique montre visuellement cette sous-représentation féminine dans les plus hauts niveaux de rémunération.</a:t>
            </a:r>
          </a:p>
          <a:p>
            <a:endParaRPr lang="fr-FR" dirty="0">
              <a:solidFill>
                <a:schemeClr val="bg1"/>
              </a:solidFill>
            </a:endParaRPr>
          </a:p>
          <a:p>
            <a:r>
              <a:rPr lang="fr-FR" dirty="0">
                <a:solidFill>
                  <a:schemeClr val="bg1"/>
                </a:solidFill>
              </a:rPr>
              <a:t>Les efforts sur les promotions et l’égalité salariale contribueront à faire évoluer cet équilibre à long terme.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BDCA9D4D-DE4A-FAD7-6AE6-4EE1A9B780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68728"/>
            <a:ext cx="12192000" cy="3589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3351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rgbClr val="0D8295"/>
          </a:fgClr>
          <a:bgClr>
            <a:srgbClr val="095763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6B5E02-ABF9-E23F-2870-09D53376A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 hidden="1">
            <a:extLst>
              <a:ext uri="{FF2B5EF4-FFF2-40B4-BE49-F238E27FC236}">
                <a16:creationId xmlns:a16="http://schemas.microsoft.com/office/drawing/2014/main" id="{D6DFD309-9218-B090-CC3D-BB39BBF974B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fr-FR" dirty="0"/>
              <a:t>Analyse du projet : diapositive </a:t>
            </a:r>
            <a:r>
              <a:rPr lang="fr" dirty="0"/>
              <a:t>4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2288A714-2F48-77F3-CF78-7843F7A80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11613" y="522898"/>
            <a:ext cx="4080387" cy="0"/>
          </a:xfrm>
          <a:prstGeom prst="line">
            <a:avLst/>
          </a:prstGeom>
          <a:ln>
            <a:solidFill>
              <a:schemeClr val="bg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re 1">
            <a:extLst>
              <a:ext uri="{FF2B5EF4-FFF2-40B4-BE49-F238E27FC236}">
                <a16:creationId xmlns:a16="http://schemas.microsoft.com/office/drawing/2014/main" id="{EC31E8C0-D41D-371A-06FF-3794A492117D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3877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0"/>
            <a:r>
              <a:rPr lang="fr-FR" sz="2800" b="1" dirty="0">
                <a:solidFill>
                  <a:schemeClr val="bg1"/>
                </a:solidFill>
              </a:rPr>
              <a:t>Bilan &amp; pistes d’action</a:t>
            </a:r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8131FF16-51D2-D1D3-E64C-53A42CB012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0387" cy="0"/>
          </a:xfrm>
          <a:prstGeom prst="line">
            <a:avLst/>
          </a:prstGeom>
          <a:ln>
            <a:solidFill>
              <a:schemeClr val="bg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D87D1986-222E-A639-BE90-5BB40B4F2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6FEDF93-2BFD-41CA-ABC7-B039102F3792}" type="slidenum">
              <a:rPr lang="fr-FR" noProof="0" smtClean="0"/>
              <a:t>12</a:t>
            </a:fld>
            <a:endParaRPr lang="fr-FR" noProof="0" dirty="0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CC0EFF2B-1899-E2CB-9DBE-2CA46CAAD514}"/>
              </a:ext>
            </a:extLst>
          </p:cNvPr>
          <p:cNvSpPr txBox="1"/>
          <p:nvPr/>
        </p:nvSpPr>
        <p:spPr>
          <a:xfrm>
            <a:off x="489154" y="1397675"/>
            <a:ext cx="1056230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bg1"/>
                </a:solidFill>
              </a:rPr>
              <a:t>✅ Ce que montrent les données :</a:t>
            </a:r>
          </a:p>
          <a:p>
            <a:endParaRPr lang="fr-FR" b="1" dirty="0">
              <a:solidFill>
                <a:schemeClr val="bg1"/>
              </a:solidFill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fr-FR" dirty="0">
                <a:solidFill>
                  <a:schemeClr val="bg1"/>
                </a:solidFill>
              </a:rPr>
              <a:t>Peu d’écart de rémunération moyenne entre femmes et hommes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fr-FR" dirty="0">
                <a:solidFill>
                  <a:schemeClr val="bg1"/>
                </a:solidFill>
              </a:rPr>
              <a:t>Des augmentations et promotions équitables, voire favorables aux femmes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fr-FR" dirty="0">
                <a:solidFill>
                  <a:schemeClr val="bg1"/>
                </a:solidFill>
              </a:rPr>
              <a:t>Sous-représentation féminine dans les très hauts salaires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fr-FR" dirty="0">
                <a:solidFill>
                  <a:schemeClr val="bg1"/>
                </a:solidFill>
              </a:rPr>
              <a:t>Temps partiel plus fréquent chez les femmes sans enfants : à creuser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fr-FR" dirty="0">
                <a:solidFill>
                  <a:schemeClr val="bg1"/>
                </a:solidFill>
              </a:rPr>
              <a:t>Effets de la parentalité mesurés mais à suivre dans le temps</a:t>
            </a:r>
          </a:p>
          <a:p>
            <a:r>
              <a:rPr lang="fr-FR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14691A11-C7B1-E710-12D1-2347AAF8F3E5}"/>
              </a:ext>
            </a:extLst>
          </p:cNvPr>
          <p:cNvSpPr txBox="1"/>
          <p:nvPr/>
        </p:nvSpPr>
        <p:spPr>
          <a:xfrm>
            <a:off x="4701049" y="4015512"/>
            <a:ext cx="726235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🔧 </a:t>
            </a:r>
            <a:r>
              <a:rPr lang="fr-FR" b="1" dirty="0">
                <a:solidFill>
                  <a:schemeClr val="bg1"/>
                </a:solidFill>
              </a:rPr>
              <a:t>Nos leviers de progression :</a:t>
            </a:r>
          </a:p>
          <a:p>
            <a:endParaRPr lang="fr-FR" b="1" dirty="0">
              <a:solidFill>
                <a:schemeClr val="bg1"/>
              </a:solidFill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fr-FR" dirty="0">
                <a:solidFill>
                  <a:schemeClr val="bg1"/>
                </a:solidFill>
              </a:rPr>
              <a:t>Renforcer l’accès des femmes aux fonctions à haute responsabilité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fr-FR" dirty="0">
                <a:solidFill>
                  <a:schemeClr val="bg1"/>
                </a:solidFill>
              </a:rPr>
              <a:t>Maintenir une politique d’augmentations équitable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fr-FR" dirty="0">
                <a:solidFill>
                  <a:schemeClr val="bg1"/>
                </a:solidFill>
              </a:rPr>
              <a:t>Garantir l’égalité de traitement parentale (primes, temps partiel...)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fr-FR" dirty="0">
                <a:solidFill>
                  <a:schemeClr val="bg1"/>
                </a:solidFill>
              </a:rPr>
              <a:t>Agir sur la mixité dans les services les plus genrés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fr-FR" dirty="0">
                <a:solidFill>
                  <a:schemeClr val="bg1"/>
                </a:solidFill>
              </a:rPr>
              <a:t>Améliorer la qualité des données RH pour évaluer l’index complet</a:t>
            </a:r>
          </a:p>
        </p:txBody>
      </p:sp>
      <p:pic>
        <p:nvPicPr>
          <p:cNvPr id="12" name="Graphique 11" descr="Programmatrice contour">
            <a:extLst>
              <a:ext uri="{FF2B5EF4-FFF2-40B4-BE49-F238E27FC236}">
                <a16:creationId xmlns:a16="http://schemas.microsoft.com/office/drawing/2014/main" id="{E5E0B272-B011-BDBA-2C3F-B90A6EF391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67799" y="1587512"/>
            <a:ext cx="1841487" cy="1841487"/>
          </a:xfrm>
          <a:prstGeom prst="rect">
            <a:avLst/>
          </a:prstGeom>
        </p:spPr>
      </p:pic>
      <p:pic>
        <p:nvPicPr>
          <p:cNvPr id="15" name="Graphique 14" descr="Baguette magique auto contour">
            <a:extLst>
              <a:ext uri="{FF2B5EF4-FFF2-40B4-BE49-F238E27FC236}">
                <a16:creationId xmlns:a16="http://schemas.microsoft.com/office/drawing/2014/main" id="{E0FD23AE-89E5-38A5-C3DB-30F6281C408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35393" y="4133936"/>
            <a:ext cx="1326389" cy="1326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8143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accent3">
              <a:lumMod val="75000"/>
            </a:schemeClr>
          </a:fgClr>
          <a:bgClr>
            <a:schemeClr val="accent3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e 10">
            <a:extLst>
              <a:ext uri="{FF2B5EF4-FFF2-40B4-BE49-F238E27FC236}">
                <a16:creationId xmlns:a16="http://schemas.microsoft.com/office/drawing/2014/main" id="{62A21665-C64F-4BDA-B2DE-442D706057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325258" y="1544068"/>
            <a:ext cx="3541486" cy="3769865"/>
            <a:chOff x="4325258" y="1229517"/>
            <a:chExt cx="3541486" cy="3769865"/>
          </a:xfrm>
        </p:grpSpPr>
        <p:sp>
          <p:nvSpPr>
            <p:cNvPr id="12" name="Losange 11">
              <a:extLst>
                <a:ext uri="{FF2B5EF4-FFF2-40B4-BE49-F238E27FC236}">
                  <a16:creationId xmlns:a16="http://schemas.microsoft.com/office/drawing/2014/main" id="{7DC8B409-5FAC-4539-B25A-26BE925A48AF}"/>
                </a:ext>
              </a:extLst>
            </p:cNvPr>
            <p:cNvSpPr/>
            <p:nvPr/>
          </p:nvSpPr>
          <p:spPr>
            <a:xfrm>
              <a:off x="4792319" y="2392018"/>
              <a:ext cx="2607364" cy="2607364"/>
            </a:xfrm>
            <a:prstGeom prst="diamond">
              <a:avLst/>
            </a:pr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dirty="0"/>
            </a:p>
          </p:txBody>
        </p:sp>
        <p:sp>
          <p:nvSpPr>
            <p:cNvPr id="13" name="Losange 12">
              <a:extLst>
                <a:ext uri="{FF2B5EF4-FFF2-40B4-BE49-F238E27FC236}">
                  <a16:creationId xmlns:a16="http://schemas.microsoft.com/office/drawing/2014/main" id="{91498E2F-539C-46D3-AF7C-BB1DAE76B114}"/>
                </a:ext>
              </a:extLst>
            </p:cNvPr>
            <p:cNvSpPr/>
            <p:nvPr/>
          </p:nvSpPr>
          <p:spPr>
            <a:xfrm>
              <a:off x="4325258" y="1229517"/>
              <a:ext cx="3541486" cy="3541486"/>
            </a:xfrm>
            <a:prstGeom prst="diamond">
              <a:avLst/>
            </a:pr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dirty="0"/>
            </a:p>
          </p:txBody>
        </p:sp>
      </p:grpSp>
      <p:sp>
        <p:nvSpPr>
          <p:cNvPr id="15" name="Titre 1">
            <a:extLst>
              <a:ext uri="{FF2B5EF4-FFF2-40B4-BE49-F238E27FC236}">
                <a16:creationId xmlns:a16="http://schemas.microsoft.com/office/drawing/2014/main" id="{FA061601-468D-486D-B8EE-42BD1BE3AD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30403"/>
            <a:ext cx="9144000" cy="997196"/>
          </a:xfrm>
        </p:spPr>
        <p:txBody>
          <a:bodyPr lIns="0" tIns="0" rIns="0" bIns="0" rtlCol="0" anchor="ctr">
            <a:spAutoFit/>
          </a:bodyPr>
          <a:lstStyle/>
          <a:p>
            <a:pPr rtl="0"/>
            <a:r>
              <a:rPr lang="fr-FR" sz="7200" b="1" dirty="0">
                <a:solidFill>
                  <a:schemeClr val="bg1"/>
                </a:solidFill>
              </a:rPr>
              <a:t>Merci</a:t>
            </a:r>
            <a:endParaRPr lang="fr-FR" sz="72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303816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Custom 73">
      <a:dk1>
        <a:srgbClr val="000000"/>
      </a:dk1>
      <a:lt1>
        <a:sysClr val="window" lastClr="FFFFFF"/>
      </a:lt1>
      <a:dk2>
        <a:srgbClr val="585858"/>
      </a:dk2>
      <a:lt2>
        <a:srgbClr val="E3E3E3"/>
      </a:lt2>
      <a:accent1>
        <a:srgbClr val="E20613"/>
      </a:accent1>
      <a:accent2>
        <a:srgbClr val="A9C038"/>
      </a:accent2>
      <a:accent3>
        <a:srgbClr val="11AEC7"/>
      </a:accent3>
      <a:accent4>
        <a:srgbClr val="F59F26"/>
      </a:accent4>
      <a:accent5>
        <a:srgbClr val="0062A9"/>
      </a:accent5>
      <a:accent6>
        <a:srgbClr val="EB6047"/>
      </a:accent6>
      <a:hlink>
        <a:srgbClr val="8ED9F6"/>
      </a:hlink>
      <a:folHlink>
        <a:srgbClr val="C00000"/>
      </a:folHlink>
    </a:clrScheme>
    <a:fontScheme name="Modern 01">
      <a:majorFont>
        <a:latin typeface="Century Gothic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0740364_TF78455520" id="{1B6B5A3F-3791-4D91-8BCC-053B27B038BF}" vid="{26B24478-322D-4DF5-BC15-C9CB3253BD42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Analyse de projet, tiré de 24Slides</Template>
  <TotalTime>1251</TotalTime>
  <Words>2555</Words>
  <Application>Microsoft Office PowerPoint</Application>
  <PresentationFormat>Grand écran</PresentationFormat>
  <Paragraphs>226</Paragraphs>
  <Slides>13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Century Gothic</vt:lpstr>
      <vt:lpstr>Courier New</vt:lpstr>
      <vt:lpstr>Segoe UI Light</vt:lpstr>
      <vt:lpstr>Thème Office</vt:lpstr>
      <vt:lpstr>Diagnostic égalité F/H Construisons un avenir plus juste</vt:lpstr>
      <vt:lpstr>Analyse du projet : diapositive 2</vt:lpstr>
      <vt:lpstr>Analyse du projet : diapositive 2</vt:lpstr>
      <vt:lpstr>Analyse du projet : diapositive 2</vt:lpstr>
      <vt:lpstr>Analyse du projet : diapositive 2</vt:lpstr>
      <vt:lpstr>Analyse du projet : diapositive 3</vt:lpstr>
      <vt:lpstr>Analyse du projet : diapositive 4</vt:lpstr>
      <vt:lpstr>Analyse du projet : diapositive 4</vt:lpstr>
      <vt:lpstr>Analyse du projet : diapositive 4</vt:lpstr>
      <vt:lpstr>Analyse du projet : diapositive 4</vt:lpstr>
      <vt:lpstr>Analyse du projet : diapositive 4</vt:lpstr>
      <vt:lpstr>Analyse du projet : diapositive 4</vt:lpstr>
      <vt:lpstr>Merci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Olivia TAURAND</dc:creator>
  <cp:lastModifiedBy>Olivia TAURAND</cp:lastModifiedBy>
  <cp:revision>1</cp:revision>
  <dcterms:created xsi:type="dcterms:W3CDTF">2025-09-02T12:43:12Z</dcterms:created>
  <dcterms:modified xsi:type="dcterms:W3CDTF">2025-09-09T07:48:01Z</dcterms:modified>
</cp:coreProperties>
</file>